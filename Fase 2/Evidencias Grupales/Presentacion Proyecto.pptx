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0c607017-7e0f-528e-75ff-ace726bf0b17}">
          <p14:sldIdLst>
            <p14:sldId id="256"/>
            <p14:sldId id="257"/>
          </p14:sldIdLst>
        </p14:section>
        <p14:section name="Proyecto" id="{93db41a4-604a-7dc9-e4ed-2ee7a444af11}">
          <p14:sldIdLst>
            <p14:sldId id="258"/>
            <p14:sldId id="259"/>
            <p14:sldId id="260"/>
            <p14:sldId id="261"/>
          </p14:sldIdLst>
        </p14:section>
        <p14:section name="Diseño de la solución" id="{d0bd65c3-dda9-a3a4-ce8b-0be472084475}">
          <p14:sldIdLst>
            <p14:sldId id="262"/>
            <p14:sldId id="263"/>
            <p14:sldId id="264"/>
            <p14:sldId id="265"/>
          </p14:sldIdLst>
        </p14:section>
        <p14:section name="Resultados" id="{dfbc2e33-2a12-174e-29a0-2fdbd5d1ae99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ierre" id="{dd7a6b51-af01-398b-8450-9d6c805513ab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4"/>
                </a:solidFill>
              </a:rPr>
              <a:t>PROYECTO “OJO DE HUASO”</a:t>
            </a:r>
            <a:endParaRPr lang="en-US" sz="1100" dirty="0"/>
          </a:p>
        </p:txBody>
      </p:sp>
      <p:pic>
        <p:nvPicPr>
          <p:cNvPr id="3" name="Image 0" descr="/home/claude/buil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8495" y="228600"/>
            <a:ext cx="2194560" cy="549705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build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743200" cy="6871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8823960" y="2057400"/>
            <a:ext cx="3749040" cy="37490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PRESENTACIÓN FINAL CAPSTONE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Proyecto “Ojo de Huaso”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519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Sistema inteligente de apoyo a la jura del Rodeo Chileno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Integrantes del proyecto</a:t>
            </a:r>
            <a:endParaRPr lang="en-US" sz="3000" dirty="0"/>
          </a:p>
        </p:txBody>
      </p:sp>
      <p:sp>
        <p:nvSpPr>
          <p:cNvPr id="3" name="Integrante 1"/>
          <p:cNvSpPr/>
          <p:nvPr/>
        </p:nvSpPr>
        <p:spPr>
          <a:xfrm>
            <a:off x="548640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home/claude/build/phot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3312" y="2267712"/>
            <a:ext cx="1865376" cy="1865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Juan Carlos Reyes Melo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Scrum Master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Encargado de la correcta introducción de Scrum</a:t>
            </a:r>
            <a:endParaRPr lang="en-US" sz="1400" dirty="0"/>
          </a:p>
        </p:txBody>
      </p:sp>
      <p:sp>
        <p:nvSpPr>
          <p:cNvPr id="9" name="Integrante 2"/>
          <p:cNvSpPr/>
          <p:nvPr/>
        </p:nvSpPr>
        <p:spPr>
          <a:xfrm>
            <a:off x="4358488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5090008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/home/claude/build/photo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60" y="2267712"/>
            <a:ext cx="1865376" cy="18653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7088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Vicente José Ansaldi Gutiérrez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69968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Arquitecto de Software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678528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Selección de tecnologías e incorporación de estas</a:t>
            </a:r>
            <a:endParaRPr lang="en-US" sz="1400" dirty="0"/>
          </a:p>
        </p:txBody>
      </p:sp>
      <p:sp>
        <p:nvSpPr>
          <p:cNvPr id="15" name="Integrante 3"/>
          <p:cNvSpPr/>
          <p:nvPr/>
        </p:nvSpPr>
        <p:spPr>
          <a:xfrm>
            <a:off x="8168335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8899855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/home/claude/build/photo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3007" y="2267712"/>
            <a:ext cx="1865376" cy="186537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6935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Lesther Alberto Araya Valdivia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79815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Ingeniero de Machine Learning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488375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Diseñar, construir y desplegar modelos de aprendizaje automático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Descripción del proyecto</a:t>
            </a:r>
            <a:endParaRPr lang="en-US" sz="3000" dirty="0"/>
          </a:p>
        </p:txBody>
      </p:sp>
      <p:sp>
        <p:nvSpPr>
          <p:cNvPr id="3" name="Problema"/>
          <p:cNvSpPr/>
          <p:nvPr/>
        </p:nvSpPr>
        <p:spPr>
          <a:xfrm>
            <a:off x="548640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2402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4185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Problema o dolor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La jura en el Rodeo Chileno requiere que el jurado observe y evalúe acciones deportivas que se desarrollan en pocos segundos y que involucran movimientos simultáneos del caballo y del novillo, puntos de contacto, posiciones de los animales y diferentes condiciones que deben ser interpretadas de acuerdo con el reglamento vigente.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730088" y="3657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283" y="3847795"/>
            <a:ext cx="351130" cy="351130"/>
          </a:xfrm>
          <a:prstGeom prst="rect">
            <a:avLst/>
          </a:prstGeom>
        </p:spPr>
      </p:pic>
      <p:sp>
        <p:nvSpPr>
          <p:cNvPr id="10" name="Propuesta"/>
          <p:cNvSpPr/>
          <p:nvPr/>
        </p:nvSpPr>
        <p:spPr>
          <a:xfrm>
            <a:off x="6659575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</p:sp>
      <p:sp>
        <p:nvSpPr>
          <p:cNvPr id="11" name="Shape 7"/>
          <p:cNvSpPr/>
          <p:nvPr/>
        </p:nvSpPr>
        <p:spPr>
          <a:xfrm>
            <a:off x="7025335" y="2240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643" y="241858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94015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Propuesta de solución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7025335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Se propone desarrollar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Ojo de Huaso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, un prototipo de sistema inteligente de apoyo a la jura del Rodeo Chileno basado en procesamiento de video, visión computacional e inteligencia artificial.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Objetivos del proyecto</a:t>
            </a:r>
            <a:endParaRPr lang="en-US" sz="3000" dirty="0"/>
          </a:p>
        </p:txBody>
      </p:sp>
      <p:sp>
        <p:nvSpPr>
          <p:cNvPr id="3" name="Objetivo general"/>
          <p:cNvSpPr/>
          <p:nvPr/>
        </p:nvSpPr>
        <p:spPr>
          <a:xfrm>
            <a:off x="548640" y="1783080"/>
            <a:ext cx="1109441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271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OBJETIVO GENERAL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12848"/>
            <a:ext cx="95399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Poder reconocer las diversas acciones realizadas por los jinetes y calificar el puntaje por cada una de estas, logrando de esta forma obtener un puntaje transparente, en base a los ejemplos entregados por el Product Owner, además de poder justificar la pérdida de puntos por cada falta realizada a lo largo del rodeo.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OBJETIVOS ESPECÍFICOS</a:t>
            </a:r>
            <a:endParaRPr lang="en-US" sz="1200" dirty="0"/>
          </a:p>
        </p:txBody>
      </p:sp>
      <p:sp>
        <p:nvSpPr>
          <p:cNvPr id="9" name="Objetivo específico 1"/>
          <p:cNvSpPr/>
          <p:nvPr/>
        </p:nvSpPr>
        <p:spPr>
          <a:xfrm>
            <a:off x="548640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Disminuir la incertidumbre ante momentos de difícil apreciación, entregando un apoyo mediante una recomendación automática basada en el análisis del video.</a:t>
            </a:r>
            <a:endParaRPr lang="en-US" sz="1350" dirty="0"/>
          </a:p>
        </p:txBody>
      </p:sp>
      <p:sp>
        <p:nvSpPr>
          <p:cNvPr id="12" name="Objetivo específico 2"/>
          <p:cNvSpPr/>
          <p:nvPr/>
        </p:nvSpPr>
        <p:spPr>
          <a:xfrm>
            <a:off x="6233008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/>
          <p:nvPr/>
        </p:nvSpPr>
        <p:spPr>
          <a:xfrm>
            <a:off x="6507328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193128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Mejorar la fundamentación de la evaluación de un momento mediante la identificación de la situación observable, las faltas priorizadas y el efecto reglamentario correspondiente.</a:t>
            </a:r>
            <a:endParaRPr lang="en-US" sz="1350" dirty="0"/>
          </a:p>
        </p:txBody>
      </p:sp>
      <p:sp>
        <p:nvSpPr>
          <p:cNvPr id="15" name="Objetivo específico 3"/>
          <p:cNvSpPr/>
          <p:nvPr/>
        </p:nvSpPr>
        <p:spPr>
          <a:xfrm>
            <a:off x="548640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508760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Aumentar la transparencia de la recomendación informando las alternativas evaluadas por la inteligencia artificial y sus respectivos niveles de confianza.</a:t>
            </a:r>
            <a:endParaRPr lang="en-US" sz="1350" dirty="0"/>
          </a:p>
        </p:txBody>
      </p:sp>
      <p:sp>
        <p:nvSpPr>
          <p:cNvPr id="18" name="Objetivo específico 4"/>
          <p:cNvSpPr/>
          <p:nvPr/>
        </p:nvSpPr>
        <p:spPr>
          <a:xfrm>
            <a:off x="6233008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/>
          <p:nvPr/>
        </p:nvSpPr>
        <p:spPr>
          <a:xfrm>
            <a:off x="6507328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93128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Facilitar la revisión y trazabilidad de los análisis realizados mediante el almacenamiento del resultado, su justificación y la generación de reportes descargables.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Alcance y limitaciones del proyecto</a:t>
            </a:r>
            <a:endParaRPr lang="en-US" sz="3000" dirty="0"/>
          </a:p>
        </p:txBody>
      </p:sp>
      <p:sp>
        <p:nvSpPr>
          <p:cNvPr id="3" name="Alcance"/>
          <p:cNvSpPr/>
          <p:nvPr/>
        </p:nvSpPr>
        <p:spPr>
          <a:xfrm>
            <a:off x="548640" y="178308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22119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57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Alcance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8346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proyecto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Ojo de Huaso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 contempla el desarrollo de una solución web basada en Inteligencia Artificial orientada a apoyar el proceso de evaluación de una corrida de rodeo chileno. En su primera versión, el sistema permitirá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cargar o seleccionar un video previamente grabado y analizar el segmento correspondiente a una corrida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, identificando elementos relevantes de la atajada para generar una recomendación que sirva como apoyo al jurado.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sistema permitirá gestionar la información necesaria para contextualizar cada análisis, procesar el segmento de video mediante un modelo de Inteligencia Artificial y presentar los resultados obtenidos de manera clara para su posterior revisión.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783080"/>
            <a:ext cx="6202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Limitaciones del proyecto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2176272"/>
            <a:ext cx="6202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La primera versión de 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Ojo de Huaso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tendrá las siguientes limitaciones:</a:t>
            </a:r>
            <a:endParaRPr lang="en-US" sz="1300" dirty="0"/>
          </a:p>
        </p:txBody>
      </p:sp>
      <p:sp>
        <p:nvSpPr>
          <p:cNvPr id="10" name="Limitaciones"/>
          <p:cNvSpPr/>
          <p:nvPr/>
        </p:nvSpPr>
        <p:spPr>
          <a:xfrm>
            <a:off x="5440680" y="2560320"/>
            <a:ext cx="6202375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696712" y="2786634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713482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sistema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no realizará captura de video en tiempo real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ni tendrá conexión directa con cámaras instaladas en la medialuna.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96712" y="3262122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3188970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 contempla la administración, configuración ni almacenamiento proveniente de sistemas de cámaras.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96712" y="373761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6445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análisis se realizará exclusivamente sobre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videos previamente grabados y proporcionados al sistema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96712" y="421309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413994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alcance se limita al análisis de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una corrida o segmento específico de video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, y no al procesamiento automático de un rodeo completo.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96712" y="4688586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943600" y="4615434"/>
            <a:ext cx="5470855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precisión del análisis dependerá de factores como la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calidad, resolución, iluminación, ángulo de grabación, visibilidad de los participantes y claridad del momento de contacto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96712" y="536067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943600" y="528751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IA entregará una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recomendación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, por lo que el resultado generado no constituirá automáticamente el puntaje oficial de la corrida.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696712" y="583615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943600" y="576300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Ojo de Huaso funcionará de manera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independiente de SIPLAN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durante esta versión, por lo que no se contempla integración automática con dicho sistema.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Metodología de trabajo para el desarrollo del proyecto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utilizará una metodología híbrida que combine 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Scrum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 la gestión y desarrollo incremental del software con 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CRISP-DM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 organizar el trabajo asociado a los datos audiovisuales y al modelo de inteligencia artificial.</a:t>
            </a:r>
            <a:endParaRPr lang="en-US" sz="1400" dirty="0"/>
          </a:p>
        </p:txBody>
      </p:sp>
      <p:sp>
        <p:nvSpPr>
          <p:cNvPr id="4" name="Fase 1"/>
          <p:cNvSpPr/>
          <p:nvPr/>
        </p:nvSpPr>
        <p:spPr>
          <a:xfrm>
            <a:off x="548640" y="2423160"/>
            <a:ext cx="3383280" cy="388620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FASE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44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Semanas 1 a 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Durante la Fase 1 se consolidarán el problema, el alcance único, los objetivos, las reglas de negocio, las doce historias de usuario V1, los criterios de aceptación, el catálogo inicial de situaciones reglamentarias y el conjunto inicial de momentos de video que se utilizarán para pruebas y entrenamiento.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423160"/>
            <a:ext cx="7391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FASE 2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   ·   cinco sprints consecutivos de dos semanas</a:t>
            </a:r>
            <a:endParaRPr lang="en-US" sz="1500" dirty="0"/>
          </a:p>
        </p:txBody>
      </p:sp>
      <p:sp>
        <p:nvSpPr>
          <p:cNvPr id="9" name="Sprint 1"/>
          <p:cNvSpPr/>
          <p:nvPr/>
        </p:nvSpPr>
        <p:spPr>
          <a:xfrm>
            <a:off x="4251960" y="2880360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9809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0328" y="28803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1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5-6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880360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Ingreso de URL, selección del intervalo temporal y validación del video/momento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180015" y="3044952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HU-001 a HU-003</a:t>
            </a:r>
            <a:endParaRPr lang="en-US" sz="1000" dirty="0"/>
          </a:p>
        </p:txBody>
      </p:sp>
      <p:sp>
        <p:nvSpPr>
          <p:cNvPr id="14" name="Sprint 2"/>
          <p:cNvSpPr/>
          <p:nvPr/>
        </p:nvSpPr>
        <p:spPr>
          <a:xfrm>
            <a:off x="4251960" y="3586734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368731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10328" y="358673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2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7-8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586734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Procesamiento del momento seleccionado e identificación de la situación observable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180015" y="3751326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HU-004 y HU-005</a:t>
            </a:r>
            <a:endParaRPr lang="en-US" sz="1000" dirty="0"/>
          </a:p>
        </p:txBody>
      </p:sp>
      <p:sp>
        <p:nvSpPr>
          <p:cNvPr id="19" name="Sprint 3"/>
          <p:cNvSpPr/>
          <p:nvPr/>
        </p:nvSpPr>
        <p:spPr>
          <a:xfrm>
            <a:off x="4251960" y="4293108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43936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10328" y="42931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3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9-10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4293108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Recomendación de puntaje, detección de faltas priorizadas y aplicación de su efecto reglamentario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180015" y="4457700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HU-006 a HU-008</a:t>
            </a:r>
            <a:endParaRPr lang="en-US" sz="1000" dirty="0"/>
          </a:p>
        </p:txBody>
      </p:sp>
      <p:sp>
        <p:nvSpPr>
          <p:cNvPr id="24" name="Sprint 4"/>
          <p:cNvSpPr/>
          <p:nvPr/>
        </p:nvSpPr>
        <p:spPr>
          <a:xfrm>
            <a:off x="4251960" y="4999482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510006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10328" y="499948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11-12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4999482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Niveles de confianza, alternativas evaluadas y justificación de la recomendación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180015" y="5164074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HU-009 y HU-010</a:t>
            </a:r>
            <a:endParaRPr lang="en-US" sz="1000" dirty="0"/>
          </a:p>
        </p:txBody>
      </p:sp>
      <p:sp>
        <p:nvSpPr>
          <p:cNvPr id="29" name="Sprint 5"/>
          <p:cNvSpPr/>
          <p:nvPr/>
        </p:nvSpPr>
        <p:spPr>
          <a:xfrm>
            <a:off x="4251960" y="5705856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0" name="Text 28"/>
          <p:cNvSpPr/>
          <p:nvPr/>
        </p:nvSpPr>
        <p:spPr>
          <a:xfrm>
            <a:off x="4389120" y="580644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10328" y="570585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13-14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705856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Almacenamiento, consulta de análisis, generación de reportes PDF/Excel, integración y preparación de la versión entregable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180015" y="5870448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HU-011 y HU-012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Cronograma o Release Plan para el desarrollo del proyecto</a:t>
            </a:r>
            <a:endParaRPr lang="en-US" sz="3000" dirty="0"/>
          </a:p>
        </p:txBody>
      </p:sp>
      <p:sp>
        <p:nvSpPr>
          <p:cNvPr id="3" name="Cronograma"/>
          <p:cNvSpPr/>
          <p:nvPr/>
        </p:nvSpPr>
        <p:spPr>
          <a:xfrm>
            <a:off x="1449302" y="1691640"/>
            <a:ext cx="9293091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182" y="1874520"/>
            <a:ext cx="8927331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 del software</a:t>
            </a:r>
            <a:endParaRPr lang="en-US" sz="3000" dirty="0"/>
          </a:p>
        </p:txBody>
      </p:sp>
      <p:sp>
        <p:nvSpPr>
          <p:cNvPr id="3" name="Arquitectura"/>
          <p:cNvSpPr/>
          <p:nvPr/>
        </p:nvSpPr>
        <p:spPr>
          <a:xfrm>
            <a:off x="2689708" y="1691640"/>
            <a:ext cx="681228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6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588" y="1874520"/>
            <a:ext cx="644652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Modelo de datos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Tecnologías utilizadas</a:t>
            </a:r>
            <a:endParaRPr lang="en-US" sz="3000" dirty="0"/>
          </a:p>
        </p:txBody>
      </p:sp>
      <p:sp>
        <p:nvSpPr>
          <p:cNvPr id="3" name="Tecnologías"/>
          <p:cNvSpPr/>
          <p:nvPr/>
        </p:nvSpPr>
        <p:spPr>
          <a:xfrm>
            <a:off x="2066093" y="1691640"/>
            <a:ext cx="8059509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8973" y="1874520"/>
            <a:ext cx="7693749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Demostración del resultado del proyecto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*Exposición del sistema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Pérdida de entrenamiento"/>
          <p:cNvSpPr/>
          <p:nvPr/>
        </p:nvSpPr>
        <p:spPr>
          <a:xfrm>
            <a:off x="548640" y="2180405"/>
            <a:ext cx="5364328" cy="3685909"/>
          </a:xfrm>
          <a:prstGeom prst="roundRect">
            <a:avLst>
              <a:gd name="adj" fmla="val 297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63285"/>
            <a:ext cx="4998568" cy="3320149"/>
          </a:xfrm>
          <a:prstGeom prst="rect">
            <a:avLst/>
          </a:prstGeom>
        </p:spPr>
      </p:pic>
      <p:sp>
        <p:nvSpPr>
          <p:cNvPr id="5" name="Error medio del momento"/>
          <p:cNvSpPr/>
          <p:nvPr/>
        </p:nvSpPr>
        <p:spPr>
          <a:xfrm>
            <a:off x="6278728" y="2118441"/>
            <a:ext cx="5364328" cy="3809838"/>
          </a:xfrm>
          <a:prstGeom prst="roundRect">
            <a:avLst>
              <a:gd name="adj" fmla="val 288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6" name="Image 1" descr="/home/claude/src/unpacked/ppt/media/image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301321"/>
            <a:ext cx="4998568" cy="344407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Accuracy"/>
          <p:cNvSpPr/>
          <p:nvPr/>
        </p:nvSpPr>
        <p:spPr>
          <a:xfrm>
            <a:off x="2789024" y="1691640"/>
            <a:ext cx="6613648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build/accuracy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904" y="1874520"/>
            <a:ext cx="6247888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Puntaje de la atajada"/>
          <p:cNvSpPr/>
          <p:nvPr/>
        </p:nvSpPr>
        <p:spPr>
          <a:xfrm>
            <a:off x="548640" y="1977129"/>
            <a:ext cx="11094415" cy="4092463"/>
          </a:xfrm>
          <a:prstGeom prst="roundRect">
            <a:avLst>
              <a:gd name="adj" fmla="val 268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build/ataj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60009"/>
            <a:ext cx="10728655" cy="372670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Demostración del sistema</a:t>
            </a:r>
            <a:endParaRPr lang="en-US" sz="3000" dirty="0"/>
          </a:p>
        </p:txBody>
      </p:sp>
      <p:sp>
        <p:nvSpPr>
          <p:cNvPr id="3" name="Marco video"/>
          <p:cNvSpPr/>
          <p:nvPr/>
        </p:nvSpPr>
        <p:spPr>
          <a:xfrm>
            <a:off x="2406854" y="1627632"/>
            <a:ext cx="7377988" cy="4745736"/>
          </a:xfrm>
          <a:prstGeom prst="roundRect">
            <a:avLst>
              <a:gd name="adj" fmla="val 231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516582" y="1737360"/>
            <a:ext cx="7158532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Obstáculos presentados durante el desarrollo</a:t>
            </a:r>
            <a:endParaRPr lang="en-US" sz="3000" dirty="0"/>
          </a:p>
        </p:txBody>
      </p:sp>
      <p:sp>
        <p:nvSpPr>
          <p:cNvPr id="3" name="Obstáculo 1"/>
          <p:cNvSpPr/>
          <p:nvPr/>
        </p:nvSpPr>
        <p:spPr>
          <a:xfrm>
            <a:off x="548640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Falta de recursos para el entrenamiento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bien tenemos información y hemos logrado entrenar un modelo estable, para abordar más casos necesitamos más muestras.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75808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2228" y="2726741"/>
            <a:ext cx="307238" cy="307238"/>
          </a:xfrm>
          <a:prstGeom prst="rect">
            <a:avLst/>
          </a:prstGeom>
        </p:spPr>
      </p:pic>
      <p:sp>
        <p:nvSpPr>
          <p:cNvPr id="9" name="Solución 1"/>
          <p:cNvSpPr/>
          <p:nvPr/>
        </p:nvSpPr>
        <p:spPr>
          <a:xfrm>
            <a:off x="6613855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0" name="Shape 7"/>
          <p:cNvSpPr/>
          <p:nvPr/>
        </p:nvSpPr>
        <p:spPr>
          <a:xfrm>
            <a:off x="6933895" y="2148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542" y="22914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11135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711135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Estamos buscando diferentes fuentes de rodeo las cuales son fiables, con puntaje y justificación, pero fuera de lo profesional.</a:t>
            </a:r>
            <a:endParaRPr lang="en-US" sz="1400" dirty="0"/>
          </a:p>
        </p:txBody>
      </p:sp>
      <p:sp>
        <p:nvSpPr>
          <p:cNvPr id="14" name="Obstáculo 2"/>
          <p:cNvSpPr/>
          <p:nvPr/>
        </p:nvSpPr>
        <p:spPr>
          <a:xfrm>
            <a:off x="548640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45720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645920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Complicaciones con el accuracy y loss del modelo inicial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45920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Pese a varios intentos.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775808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228" y="5149901"/>
            <a:ext cx="307238" cy="307238"/>
          </a:xfrm>
          <a:prstGeom prst="rect">
            <a:avLst/>
          </a:prstGeom>
        </p:spPr>
      </p:pic>
      <p:sp>
        <p:nvSpPr>
          <p:cNvPr id="20" name="Solución 2"/>
          <p:cNvSpPr/>
          <p:nvPr/>
        </p:nvSpPr>
        <p:spPr>
          <a:xfrm>
            <a:off x="6613855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21" name="Shape 16"/>
          <p:cNvSpPr/>
          <p:nvPr/>
        </p:nvSpPr>
        <p:spPr>
          <a:xfrm>
            <a:off x="6933895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542" y="471464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711135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7711135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Aplicamos las reglas de rodeo a la clasificación de puntaje usando una fuente de datos desarrollada para alimentar el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Preguntas de la comisión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Proyecto “Ojo de Huaso” · Presentación final Capstone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jo de Huaso">
  <a:themeElements>
    <a:clrScheme name="Ojo de Huaso">
      <a:dk1>
        <a:srgbClr val="1E2A3A"/>
      </a:dk1>
      <a:lt1>
        <a:srgbClr val="FFFFFF"/>
      </a:lt1>
      <a:dk2>
        <a:srgbClr val="13233A"/>
      </a:dk2>
      <a:lt2>
        <a:srgbClr val="F3F5F8"/>
      </a:lt2>
      <a:accent1>
        <a:srgbClr val="F2A900"/>
      </a:accent1>
      <a:accent2>
        <a:srgbClr val="1E3756"/>
      </a:accent2>
      <a:accent3>
        <a:srgbClr val="4A78A8"/>
      </a:accent3>
      <a:accent4>
        <a:srgbClr val="8FA3B8"/>
      </a:accent4>
      <a:accent5>
        <a:srgbClr val="C0392B"/>
      </a:accent5>
      <a:accent6>
        <a:srgbClr val="2E8B57"/>
      </a:accent6>
      <a:hlink>
        <a:srgbClr val="1F5FA8"/>
      </a:hlink>
      <a:folHlink>
        <a:srgbClr val="6B4FA0"/>
      </a:folHlink>
    </a:clrScheme>
    <a:fontScheme name="Ojo de Huas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Ojo de Huaso – Presentación final Capstone</dc:title>
  <dc:subject>PptxGenJS Presentation</dc:subject>
  <dc:creator>PptxGenJS</dc:creator>
  <cp:lastModifiedBy>PptxGenJS</cp:lastModifiedBy>
  <cp:revision>1</cp:revision>
  <dcterms:created xsi:type="dcterms:W3CDTF">2026-10-16T15:45:47Z</dcterms:created>
  <dcterms:modified xsi:type="dcterms:W3CDTF">2026-10-16T15:45:47Z</dcterms:modified>
</cp:coreProperties>
</file>