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0C607017-7E0F-528E-75FF-ACE726BF0B17}">
          <p14:sldIdLst>
            <p14:sldId id="256"/>
            <p14:sldId id="257"/>
          </p14:sldIdLst>
        </p14:section>
        <p14:section name="Proyecto" id="{93DB41A4-604A-7DC9-E4ED-2EE7A444AF11}">
          <p14:sldIdLst>
            <p14:sldId id="258"/>
            <p14:sldId id="259"/>
            <p14:sldId id="260"/>
            <p14:sldId id="261"/>
          </p14:sldIdLst>
        </p14:section>
        <p14:section name="Diseño de la solución" id="{D0BD65C3-DDA9-A3A4-CE8B-0BE472084475}">
          <p14:sldIdLst>
            <p14:sldId id="262"/>
            <p14:sldId id="263"/>
            <p14:sldId id="264"/>
            <p14:sldId id="265"/>
          </p14:sldIdLst>
        </p14:section>
        <p14:section name="Resultados" id="{DFBC2E33-2A12-174E-29A0-2FDBD5D1AE99}">
          <p14:sldIdLst>
            <p14:sldId id="266"/>
            <p14:sldId id="270"/>
            <p14:sldId id="267"/>
            <p14:sldId id="268"/>
            <p14:sldId id="269"/>
            <p14:sldId id="271"/>
          </p14:sldIdLst>
        </p14:section>
        <p14:section name="Cierre" id="{DD7A6B51-AF01-398B-8450-9D6C805513A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86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4"/>
                </a:solidFill>
              </a:rPr>
              <a:t>PROYECTO “OJO DE HUASO”</a:t>
            </a:r>
            <a:endParaRPr lang="en-US" sz="1100" dirty="0"/>
          </a:p>
        </p:txBody>
      </p:sp>
      <p:pic>
        <p:nvPicPr>
          <p:cNvPr id="3" name="Image 0" descr="/home/claude/build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228600"/>
            <a:ext cx="2194560" cy="549705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43200" cy="68713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65176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669280" cy="5669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2057400"/>
            <a:ext cx="3749040" cy="37490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9555480" y="2788920"/>
            <a:ext cx="2286000" cy="2286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338328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48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1"/>
                </a:solidFill>
              </a:rPr>
              <a:t>PRESENTACIÓN FINAL CAPSTONE</a:t>
            </a:r>
            <a:endParaRPr lang="en-US" sz="1600" dirty="0"/>
          </a:p>
        </p:txBody>
      </p:sp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6517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Proyecto “Ojo de Huaso”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51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Sistema inteligente de apoyo a la jura del Rodeo Chileno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Integrantes del proyecto</a:t>
            </a:r>
            <a:endParaRPr lang="en-US" sz="3000" dirty="0"/>
          </a:p>
        </p:txBody>
      </p:sp>
      <p:sp>
        <p:nvSpPr>
          <p:cNvPr id="3" name="Integrante 1"/>
          <p:cNvSpPr/>
          <p:nvPr/>
        </p:nvSpPr>
        <p:spPr>
          <a:xfrm>
            <a:off x="548640" y="1874520"/>
            <a:ext cx="3474720" cy="43434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1945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/home/claude/build/phot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267712"/>
            <a:ext cx="1865376" cy="18653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Juan Carlos Reyes Melo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4892040"/>
            <a:ext cx="2651760" cy="329184"/>
          </a:xfrm>
          <a:prstGeom prst="roundRect">
            <a:avLst>
              <a:gd name="adj" fmla="val 4722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Scrum Master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Encargado de la correcta introducción de Scrum</a:t>
            </a:r>
            <a:endParaRPr lang="en-US" sz="1400" dirty="0"/>
          </a:p>
        </p:txBody>
      </p:sp>
      <p:sp>
        <p:nvSpPr>
          <p:cNvPr id="9" name="Integrante 2"/>
          <p:cNvSpPr/>
          <p:nvPr/>
        </p:nvSpPr>
        <p:spPr>
          <a:xfrm>
            <a:off x="4358488" y="1874520"/>
            <a:ext cx="3474720" cy="43434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5090008" y="21945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/home/claude/build/phot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160" y="2267712"/>
            <a:ext cx="1865376" cy="18653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7088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Vicente José Ansaldi Gutiérrez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69968" y="4892040"/>
            <a:ext cx="2651760" cy="329184"/>
          </a:xfrm>
          <a:prstGeom prst="roundRect">
            <a:avLst>
              <a:gd name="adj" fmla="val 4722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Arquitecto de Software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78528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Selección de tecnologías e incorporación de estas</a:t>
            </a:r>
            <a:endParaRPr lang="en-US" sz="1400" dirty="0"/>
          </a:p>
        </p:txBody>
      </p:sp>
      <p:sp>
        <p:nvSpPr>
          <p:cNvPr id="15" name="Integrante 3"/>
          <p:cNvSpPr/>
          <p:nvPr/>
        </p:nvSpPr>
        <p:spPr>
          <a:xfrm>
            <a:off x="8168335" y="1874520"/>
            <a:ext cx="3474720" cy="43434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8899855" y="219456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/home/claude/build/phot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007" y="2267712"/>
            <a:ext cx="1865376" cy="18653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96935" y="4389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Lesther Alberto Araya Valdivia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79815" y="4892040"/>
            <a:ext cx="2651760" cy="329184"/>
          </a:xfrm>
          <a:prstGeom prst="roundRect">
            <a:avLst>
              <a:gd name="adj" fmla="val 47222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Ingeniero de Machine Learning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88375" y="5349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Diseñar, construir y desplegar modelos de aprendizaje automático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Descripción del proyecto</a:t>
            </a:r>
            <a:endParaRPr lang="en-US" sz="3000" dirty="0"/>
          </a:p>
        </p:txBody>
      </p:sp>
      <p:sp>
        <p:nvSpPr>
          <p:cNvPr id="3" name="Problema"/>
          <p:cNvSpPr/>
          <p:nvPr/>
        </p:nvSpPr>
        <p:spPr>
          <a:xfrm>
            <a:off x="548640" y="1874520"/>
            <a:ext cx="498348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4185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Problema o dolor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4251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La jura en el Rodeo Chileno requiere que el jurado observe y evalúe acciones deportivas que se desarrollan en pocos segundos y que involucran movimientos simultáneos del caballo y del novillo, puntos de contacto, posiciones de los animales y diferentes condiciones que deben ser interpretadas de acuerdo con el reglamento vigente.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30088" y="3657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83" y="3847795"/>
            <a:ext cx="351130" cy="351130"/>
          </a:xfrm>
          <a:prstGeom prst="rect">
            <a:avLst/>
          </a:prstGeom>
        </p:spPr>
      </p:pic>
      <p:sp>
        <p:nvSpPr>
          <p:cNvPr id="10" name="Propuesta"/>
          <p:cNvSpPr/>
          <p:nvPr/>
        </p:nvSpPr>
        <p:spPr>
          <a:xfrm>
            <a:off x="6659575" y="1874520"/>
            <a:ext cx="4983480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/>
        </p:spPr>
      </p:sp>
      <p:sp>
        <p:nvSpPr>
          <p:cNvPr id="11" name="Shape 7"/>
          <p:cNvSpPr/>
          <p:nvPr/>
        </p:nvSpPr>
        <p:spPr>
          <a:xfrm>
            <a:off x="7025335" y="2240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643" y="241858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94015" y="2240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Propuesta de solución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7025335" y="3200400"/>
            <a:ext cx="4251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Se propone desarrollar </a:t>
            </a:r>
            <a:r>
              <a:rPr lang="en-US" sz="1600" b="1" dirty="0">
                <a:solidFill>
                  <a:schemeClr val="accent1"/>
                </a:solidFill>
              </a:rPr>
              <a:t>Ojo de Huaso</a:t>
            </a:r>
            <a:r>
              <a:rPr lang="en-US" sz="1600" dirty="0">
                <a:solidFill>
                  <a:schemeClr val="bg1"/>
                </a:solidFill>
              </a:rPr>
              <a:t>, un prototipo de sistema inteligente de apoyo a la jura del Rodeo Chileno basado en procesamiento de video, visión computacional e inteligencia artificial.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Objetivos del proyecto</a:t>
            </a:r>
            <a:endParaRPr lang="en-US" sz="3000" dirty="0"/>
          </a:p>
        </p:txBody>
      </p:sp>
      <p:sp>
        <p:nvSpPr>
          <p:cNvPr id="3" name="Objetivo general"/>
          <p:cNvSpPr/>
          <p:nvPr/>
        </p:nvSpPr>
        <p:spPr>
          <a:xfrm>
            <a:off x="548640" y="1783080"/>
            <a:ext cx="11094415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3271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OBJETIVO GENERAL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12848"/>
            <a:ext cx="95399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bg1"/>
                </a:solidFill>
              </a:rPr>
              <a:t>Poder reconocer las diversas acciones realizadas por los jinetes y calificar el puntaje por cada una de estas, logrando de esta forma obtener un puntaje transparente, en base a los ejemplos entregados por el Product Owner, además de poder justificar la pérdida de puntos por cada falta realizada a lo largo del rodeo.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2"/>
                </a:solidFill>
              </a:rPr>
              <a:t>OBJETIVOS ESPECÍFICOS</a:t>
            </a:r>
            <a:endParaRPr lang="en-US" sz="1200" dirty="0"/>
          </a:p>
        </p:txBody>
      </p:sp>
      <p:sp>
        <p:nvSpPr>
          <p:cNvPr id="9" name="Objetivo específico 1"/>
          <p:cNvSpPr/>
          <p:nvPr/>
        </p:nvSpPr>
        <p:spPr>
          <a:xfrm>
            <a:off x="548640" y="3767328"/>
            <a:ext cx="541004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041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3904488"/>
            <a:ext cx="422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Disminuir la incertidumbre ante momentos de difícil apreciación, entregando un apoyo mediante una recomendación automática basada en el análisis del video.</a:t>
            </a:r>
            <a:endParaRPr lang="en-US" sz="1350" dirty="0"/>
          </a:p>
        </p:txBody>
      </p:sp>
      <p:sp>
        <p:nvSpPr>
          <p:cNvPr id="12" name="Objetivo específico 2"/>
          <p:cNvSpPr/>
          <p:nvPr/>
        </p:nvSpPr>
        <p:spPr>
          <a:xfrm>
            <a:off x="6233008" y="3767328"/>
            <a:ext cx="541004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/>
          <p:nvPr/>
        </p:nvSpPr>
        <p:spPr>
          <a:xfrm>
            <a:off x="6507328" y="404164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193128" y="3904488"/>
            <a:ext cx="422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Mejorar la fundamentación de la evaluación de un momento mediante la identificación de la situación observable, las faltas priorizadas y el efecto reglamentario correspondiente.</a:t>
            </a:r>
            <a:endParaRPr lang="en-US" sz="1350" dirty="0"/>
          </a:p>
        </p:txBody>
      </p:sp>
      <p:sp>
        <p:nvSpPr>
          <p:cNvPr id="15" name="Objetivo específico 3"/>
          <p:cNvSpPr/>
          <p:nvPr/>
        </p:nvSpPr>
        <p:spPr>
          <a:xfrm>
            <a:off x="548640" y="5184648"/>
            <a:ext cx="541004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4589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508760" y="5321808"/>
            <a:ext cx="422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Aumentar la transparencia de la recomendación informando las alternativas evaluadas por la inteligencia artificial y sus respectivos niveles de confianza.</a:t>
            </a:r>
            <a:endParaRPr lang="en-US" sz="1350" dirty="0"/>
          </a:p>
        </p:txBody>
      </p:sp>
      <p:sp>
        <p:nvSpPr>
          <p:cNvPr id="18" name="Objetivo específico 4"/>
          <p:cNvSpPr/>
          <p:nvPr/>
        </p:nvSpPr>
        <p:spPr>
          <a:xfrm>
            <a:off x="6233008" y="5184648"/>
            <a:ext cx="541004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/>
          <p:nvPr/>
        </p:nvSpPr>
        <p:spPr>
          <a:xfrm>
            <a:off x="6507328" y="54589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193128" y="5321808"/>
            <a:ext cx="422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Facilitar la revisión y trazabilidad de los análisis realizados mediante el almacenamiento del resultado, su justificación y la generación de reportes descargables.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Alcance y limitaciones del proyecto</a:t>
            </a:r>
            <a:endParaRPr lang="en-US" sz="3000" dirty="0"/>
          </a:p>
        </p:txBody>
      </p:sp>
      <p:sp>
        <p:nvSpPr>
          <p:cNvPr id="3" name="Alcance"/>
          <p:cNvSpPr/>
          <p:nvPr/>
        </p:nvSpPr>
        <p:spPr>
          <a:xfrm>
            <a:off x="548640" y="1783080"/>
            <a:ext cx="457200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2119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Alcance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El proyecto </a:t>
            </a:r>
            <a:r>
              <a:rPr lang="en-US" sz="1300" b="1" dirty="0">
                <a:solidFill>
                  <a:schemeClr val="accent1"/>
                </a:solidFill>
              </a:rPr>
              <a:t>Ojo de Huaso</a:t>
            </a:r>
            <a:r>
              <a:rPr lang="en-US" sz="1300" dirty="0">
                <a:solidFill>
                  <a:schemeClr val="bg1"/>
                </a:solidFill>
              </a:rPr>
              <a:t> contempla el desarrollo de una solución web basada en Inteligencia Artificial orientada a apoyar el proceso de evaluación de una corrida de rodeo chileno. En su primera versión, el sistema permitirá </a:t>
            </a:r>
            <a:r>
              <a:rPr lang="en-US" sz="1300" b="1" dirty="0">
                <a:solidFill>
                  <a:schemeClr val="bg1"/>
                </a:solidFill>
              </a:rPr>
              <a:t>cargar o seleccionar un video previamente grabado y analizar el segmento correspondiente a una corrida</a:t>
            </a:r>
            <a:r>
              <a:rPr lang="en-US" sz="1300" dirty="0">
                <a:solidFill>
                  <a:schemeClr val="bg1"/>
                </a:solidFill>
              </a:rPr>
              <a:t>, identificando elementos relevantes de la atajada para generar una recomendación que sirva como apoyo al jurado.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El sistema permitirá gestionar la información necesaria para contextualizar cada análisis, procesar el segmento de video mediante un modelo de Inteligencia Artificial y presentar los resultados obtenidos de manera clara para su posterior revisión.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783080"/>
            <a:ext cx="6202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Limitaciones del proyecto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176272"/>
            <a:ext cx="6202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La primera versión de </a:t>
            </a:r>
            <a:r>
              <a:rPr lang="en-US" sz="1300" b="1" dirty="0">
                <a:solidFill>
                  <a:schemeClr val="accent4"/>
                </a:solidFill>
              </a:rPr>
              <a:t>Ojo de Huaso</a:t>
            </a:r>
            <a:r>
              <a:rPr lang="en-US" sz="1300" dirty="0">
                <a:solidFill>
                  <a:schemeClr val="accent4"/>
                </a:solidFill>
              </a:rPr>
              <a:t> tendrá las siguientes limitaciones:</a:t>
            </a:r>
            <a:endParaRPr lang="en-US" sz="1300" dirty="0"/>
          </a:p>
        </p:txBody>
      </p:sp>
      <p:sp>
        <p:nvSpPr>
          <p:cNvPr id="10" name="Limitaciones"/>
          <p:cNvSpPr/>
          <p:nvPr/>
        </p:nvSpPr>
        <p:spPr>
          <a:xfrm>
            <a:off x="5440680" y="2560320"/>
            <a:ext cx="6202375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5696712" y="2786634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2713482"/>
            <a:ext cx="547085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El sistema </a:t>
            </a:r>
            <a:r>
              <a:rPr lang="en-US" sz="1250" b="1" dirty="0">
                <a:solidFill>
                  <a:schemeClr val="tx2"/>
                </a:solidFill>
              </a:rPr>
              <a:t>no realizará captura de video en tiempo real</a:t>
            </a:r>
            <a:r>
              <a:rPr lang="en-US" sz="1250" dirty="0">
                <a:solidFill>
                  <a:schemeClr val="tx1"/>
                </a:solidFill>
              </a:rPr>
              <a:t> ni tendrá conexión directa con cámaras instaladas en la medialuna.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96712" y="326212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0" y="3188970"/>
            <a:ext cx="547085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No se contempla la administración, configuración ni almacenamiento proveniente de sistemas de cámaras.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96712" y="373761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0" y="3664458"/>
            <a:ext cx="547085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El análisis se realizará exclusivamente sobre </a:t>
            </a:r>
            <a:r>
              <a:rPr lang="en-US" sz="1250" b="1" dirty="0">
                <a:solidFill>
                  <a:schemeClr val="tx2"/>
                </a:solidFill>
              </a:rPr>
              <a:t>videos previamente grabados y proporcionados al sistema</a:t>
            </a:r>
            <a:r>
              <a:rPr lang="en-US" sz="1250" dirty="0">
                <a:solidFill>
                  <a:schemeClr val="tx1"/>
                </a:solidFill>
              </a:rPr>
              <a:t>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96712" y="421309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0" y="4139946"/>
            <a:ext cx="547085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El alcance se limita al análisis de </a:t>
            </a:r>
            <a:r>
              <a:rPr lang="en-US" sz="1250" b="1" dirty="0">
                <a:solidFill>
                  <a:schemeClr val="tx2"/>
                </a:solidFill>
              </a:rPr>
              <a:t>una corrida o segmento específico de video</a:t>
            </a:r>
            <a:r>
              <a:rPr lang="en-US" sz="1250" dirty="0">
                <a:solidFill>
                  <a:schemeClr val="tx1"/>
                </a:solidFill>
              </a:rPr>
              <a:t>, y no al procesamiento automático de un rodeo completo.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96712" y="4688586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0" y="4615434"/>
            <a:ext cx="5470855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La precisión del análisis dependerá de factores como la </a:t>
            </a:r>
            <a:r>
              <a:rPr lang="en-US" sz="1250" b="1" dirty="0">
                <a:solidFill>
                  <a:schemeClr val="tx2"/>
                </a:solidFill>
              </a:rPr>
              <a:t>calidad, resolución, iluminación, ángulo de grabación, visibilidad de los participantes y claridad del momento de contacto</a:t>
            </a:r>
            <a:r>
              <a:rPr lang="en-US" sz="1250" dirty="0">
                <a:solidFill>
                  <a:schemeClr val="tx1"/>
                </a:solidFill>
              </a:rPr>
              <a:t>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96712" y="536067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0" y="5287518"/>
            <a:ext cx="547085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La IA entregará una </a:t>
            </a:r>
            <a:r>
              <a:rPr lang="en-US" sz="1250" b="1" dirty="0">
                <a:solidFill>
                  <a:schemeClr val="tx2"/>
                </a:solidFill>
              </a:rPr>
              <a:t>recomendación</a:t>
            </a:r>
            <a:r>
              <a:rPr lang="en-US" sz="1250" dirty="0">
                <a:solidFill>
                  <a:schemeClr val="tx1"/>
                </a:solidFill>
              </a:rPr>
              <a:t>, por lo que el resultado generado no constituirá automáticamente el puntaje oficial de la corrida.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696712" y="5836158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943600" y="5763006"/>
            <a:ext cx="547085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Ojo de Huaso funcionará de manera </a:t>
            </a:r>
            <a:r>
              <a:rPr lang="en-US" sz="1250" b="1" dirty="0">
                <a:solidFill>
                  <a:schemeClr val="tx2"/>
                </a:solidFill>
              </a:rPr>
              <a:t>independiente de SIPLAN</a:t>
            </a:r>
            <a:r>
              <a:rPr lang="en-US" sz="1250" dirty="0">
                <a:solidFill>
                  <a:schemeClr val="tx1"/>
                </a:solidFill>
              </a:rPr>
              <a:t> durante esta versión, por lo que no se contempla integración automática con dicho sistema.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Metodología de trabajo para el desarrollo del proyecto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 utilizará una metodología híbrida que combine </a:t>
            </a:r>
            <a:r>
              <a:rPr lang="en-US" sz="1400" b="1" dirty="0">
                <a:solidFill>
                  <a:schemeClr val="tx2"/>
                </a:solidFill>
              </a:rPr>
              <a:t>Scrum</a:t>
            </a:r>
            <a:r>
              <a:rPr lang="en-US" sz="1400" dirty="0">
                <a:solidFill>
                  <a:schemeClr val="tx1"/>
                </a:solidFill>
              </a:rPr>
              <a:t> para la gestión y desarrollo incremental del software con </a:t>
            </a:r>
            <a:r>
              <a:rPr lang="en-US" sz="1400" b="1" dirty="0">
                <a:solidFill>
                  <a:schemeClr val="tx2"/>
                </a:solidFill>
              </a:rPr>
              <a:t>CRISP-DM</a:t>
            </a:r>
            <a:r>
              <a:rPr lang="en-US" sz="1400" dirty="0">
                <a:solidFill>
                  <a:schemeClr val="tx1"/>
                </a:solidFill>
              </a:rPr>
              <a:t> para organizar el trabajo asociado a los datos audiovisuales y al modelo de inteligencia artificial.</a:t>
            </a:r>
            <a:endParaRPr lang="en-US" sz="1400" dirty="0"/>
          </a:p>
        </p:txBody>
      </p:sp>
      <p:sp>
        <p:nvSpPr>
          <p:cNvPr id="4" name="Fase 1"/>
          <p:cNvSpPr/>
          <p:nvPr/>
        </p:nvSpPr>
        <p:spPr>
          <a:xfrm>
            <a:off x="548640" y="2423160"/>
            <a:ext cx="3383280" cy="388620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1"/>
                </a:solidFill>
              </a:rPr>
              <a:t>FASE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Semanas 1 a 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834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Durante la Fase 1 se consolidarán el problema, el alcance único, los objetivos, las reglas de negocio, las doce historias de usuario V1, los criterios de aceptación, el catálogo inicial de situaciones reglamentarias y el conjunto inicial de momentos de video que se utilizarán para pruebas y entrenamiento.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423160"/>
            <a:ext cx="7391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</a:rPr>
              <a:t>FASE 2</a:t>
            </a:r>
            <a:r>
              <a:rPr lang="en-US" sz="1500" dirty="0">
                <a:solidFill>
                  <a:schemeClr val="accent4"/>
                </a:solidFill>
              </a:rPr>
              <a:t>   ·   cinco sprints consecutivos de dos semanas</a:t>
            </a:r>
            <a:endParaRPr lang="en-US" sz="1500" dirty="0"/>
          </a:p>
        </p:txBody>
      </p:sp>
      <p:sp>
        <p:nvSpPr>
          <p:cNvPr id="9" name="Sprint 1"/>
          <p:cNvSpPr/>
          <p:nvPr/>
        </p:nvSpPr>
        <p:spPr>
          <a:xfrm>
            <a:off x="4251960" y="2880360"/>
            <a:ext cx="7391095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98094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288036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Sprint 1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Semanas 5-6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880360"/>
            <a:ext cx="3962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Ingreso de URL, selección del intervalo temporal y validación del video/momento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80015" y="3044952"/>
            <a:ext cx="1325880" cy="274320"/>
          </a:xfrm>
          <a:prstGeom prst="roundRect">
            <a:avLst>
              <a:gd name="adj" fmla="val 46667"/>
            </a:avLst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HU-001 a HU-003</a:t>
            </a:r>
            <a:endParaRPr lang="en-US" sz="1000" dirty="0"/>
          </a:p>
        </p:txBody>
      </p:sp>
      <p:sp>
        <p:nvSpPr>
          <p:cNvPr id="14" name="Sprint 2"/>
          <p:cNvSpPr/>
          <p:nvPr/>
        </p:nvSpPr>
        <p:spPr>
          <a:xfrm>
            <a:off x="4251960" y="3586734"/>
            <a:ext cx="7391095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368731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358673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Sprint 2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Semanas 7-8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586734"/>
            <a:ext cx="3962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Procesamiento del momento seleccionado e identificación de la situación observable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80015" y="3751326"/>
            <a:ext cx="1325880" cy="274320"/>
          </a:xfrm>
          <a:prstGeom prst="roundRect">
            <a:avLst>
              <a:gd name="adj" fmla="val 46667"/>
            </a:avLst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HU-004 y HU-005</a:t>
            </a:r>
            <a:endParaRPr lang="en-US" sz="1000" dirty="0"/>
          </a:p>
        </p:txBody>
      </p:sp>
      <p:sp>
        <p:nvSpPr>
          <p:cNvPr id="19" name="Sprint 3"/>
          <p:cNvSpPr/>
          <p:nvPr/>
        </p:nvSpPr>
        <p:spPr>
          <a:xfrm>
            <a:off x="4251960" y="4293108"/>
            <a:ext cx="7391095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43936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10328" y="429310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Sprint 3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Semanas 9-10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4293108"/>
            <a:ext cx="3962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Recomendación de puntaje, detección de faltas priorizadas y aplicación de su efecto reglamentario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80015" y="4457700"/>
            <a:ext cx="1325880" cy="274320"/>
          </a:xfrm>
          <a:prstGeom prst="roundRect">
            <a:avLst>
              <a:gd name="adj" fmla="val 46667"/>
            </a:avLst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HU-006 a HU-008</a:t>
            </a:r>
            <a:endParaRPr lang="en-US" sz="1000" dirty="0"/>
          </a:p>
        </p:txBody>
      </p:sp>
      <p:sp>
        <p:nvSpPr>
          <p:cNvPr id="24" name="Sprint 4"/>
          <p:cNvSpPr/>
          <p:nvPr/>
        </p:nvSpPr>
        <p:spPr>
          <a:xfrm>
            <a:off x="4251960" y="4999482"/>
            <a:ext cx="7391095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510006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10328" y="499948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Sprint 4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Semanas 11-12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4999482"/>
            <a:ext cx="3962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Niveles de confianza, alternativas evaluadas y justificación de la recomendación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180015" y="5164074"/>
            <a:ext cx="1325880" cy="274320"/>
          </a:xfrm>
          <a:prstGeom prst="roundRect">
            <a:avLst>
              <a:gd name="adj" fmla="val 46667"/>
            </a:avLst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HU-009 y HU-010</a:t>
            </a:r>
            <a:endParaRPr lang="en-US" sz="1000" dirty="0"/>
          </a:p>
        </p:txBody>
      </p:sp>
      <p:sp>
        <p:nvSpPr>
          <p:cNvPr id="29" name="Sprint 5"/>
          <p:cNvSpPr/>
          <p:nvPr/>
        </p:nvSpPr>
        <p:spPr>
          <a:xfrm>
            <a:off x="4251960" y="5705856"/>
            <a:ext cx="7391095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58064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10328" y="570585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Sprint 5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</a:rPr>
              <a:t>Semanas 13-14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5705856"/>
            <a:ext cx="3962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Almacenamiento, consulta de análisis, generación de reportes PDF/Excel, integración y preparación de la versión entregable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80015" y="5870448"/>
            <a:ext cx="1325880" cy="274320"/>
          </a:xfrm>
          <a:prstGeom prst="roundRect">
            <a:avLst>
              <a:gd name="adj" fmla="val 46667"/>
            </a:avLst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HU-011 y HU-012</a:t>
            </a:r>
            <a:endParaRPr lang="en-US" sz="10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Cronograma o Release Plan para el desarrollo del proyecto</a:t>
            </a:r>
            <a:endParaRPr lang="en-US" sz="3000" dirty="0"/>
          </a:p>
        </p:txBody>
      </p:sp>
      <p:sp>
        <p:nvSpPr>
          <p:cNvPr id="3" name="Cronograma"/>
          <p:cNvSpPr/>
          <p:nvPr/>
        </p:nvSpPr>
        <p:spPr>
          <a:xfrm>
            <a:off x="1449302" y="1691640"/>
            <a:ext cx="9293091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4" name="Image 0" descr="/home/claude/src/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182" y="1874520"/>
            <a:ext cx="8927331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 del software</a:t>
            </a:r>
            <a:endParaRPr lang="en-US" sz="3000" dirty="0"/>
          </a:p>
        </p:txBody>
      </p:sp>
      <p:sp>
        <p:nvSpPr>
          <p:cNvPr id="3" name="Arquitectura"/>
          <p:cNvSpPr/>
          <p:nvPr/>
        </p:nvSpPr>
        <p:spPr>
          <a:xfrm>
            <a:off x="2689708" y="1691640"/>
            <a:ext cx="681228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4" name="Image 0" descr="/home/claude/src/unpacked/ppt/media/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588" y="1874520"/>
            <a:ext cx="644652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Modelo de datos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Tecnologías utilizadas</a:t>
            </a:r>
            <a:endParaRPr lang="en-US" sz="3000" dirty="0"/>
          </a:p>
        </p:txBody>
      </p:sp>
      <p:sp>
        <p:nvSpPr>
          <p:cNvPr id="3" name="Tecnologías"/>
          <p:cNvSpPr/>
          <p:nvPr/>
        </p:nvSpPr>
        <p:spPr>
          <a:xfrm>
            <a:off x="2066093" y="1691640"/>
            <a:ext cx="8059509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4" name="Image 0" descr="/home/claude/src/unpacked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973" y="1874520"/>
            <a:ext cx="7693749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669280" cy="5669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Shape 1"/>
          <p:cNvSpPr/>
          <p:nvPr/>
        </p:nvSpPr>
        <p:spPr>
          <a:xfrm>
            <a:off x="9555480" y="2788920"/>
            <a:ext cx="2286000" cy="2286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3383280"/>
            <a:ext cx="1097280" cy="109728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6517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Demostración del resultado del proyecto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*Exposición del sistema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3000" b="1" dirty="0">
                <a:solidFill>
                  <a:schemeClr val="tx2"/>
                </a:solidFill>
              </a:rPr>
              <a:t>Demostración del resultado del proyecto</a:t>
            </a:r>
            <a:endParaRPr lang="en-US" sz="3000" b="1" dirty="0" err="1">
              <a:solidFill>
                <a:schemeClr val="tx2"/>
              </a:solidFill>
            </a:endParaRPr>
          </a:p>
        </p:txBody>
      </p:sp>
      <p:sp>
        <p:nvSpPr>
          <p:cNvPr id="3" name="Marco video"/>
          <p:cNvSpPr/>
          <p:nvPr/>
        </p:nvSpPr>
        <p:spPr>
          <a:xfrm>
            <a:off x="2406854" y="1627632"/>
            <a:ext cx="7377988" cy="4745736"/>
          </a:xfrm>
          <a:prstGeom prst="roundRect">
            <a:avLst>
              <a:gd name="adj" fmla="val 2312"/>
            </a:avLst>
          </a:prstGeom>
          <a:solidFill>
            <a:schemeClr val="tx2"/>
          </a:solidFill>
          <a:ln/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16582" y="1737360"/>
            <a:ext cx="7158532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obtenidos</a:t>
            </a:r>
            <a:endParaRPr lang="en-US" sz="3000" dirty="0"/>
          </a:p>
        </p:txBody>
      </p:sp>
      <p:sp>
        <p:nvSpPr>
          <p:cNvPr id="3" name="Pérdida de entrenamiento"/>
          <p:cNvSpPr/>
          <p:nvPr/>
        </p:nvSpPr>
        <p:spPr>
          <a:xfrm>
            <a:off x="548640" y="2180405"/>
            <a:ext cx="5364328" cy="3685909"/>
          </a:xfrm>
          <a:prstGeom prst="roundRect">
            <a:avLst>
              <a:gd name="adj" fmla="val 297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4" name="Image 0" descr="/home/claude/src/unpacked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63285"/>
            <a:ext cx="4998568" cy="3320149"/>
          </a:xfrm>
          <a:prstGeom prst="rect">
            <a:avLst/>
          </a:prstGeom>
        </p:spPr>
      </p:pic>
      <p:sp>
        <p:nvSpPr>
          <p:cNvPr id="5" name="Error medio del momento"/>
          <p:cNvSpPr/>
          <p:nvPr/>
        </p:nvSpPr>
        <p:spPr>
          <a:xfrm>
            <a:off x="6278728" y="2118441"/>
            <a:ext cx="5364328" cy="3809838"/>
          </a:xfrm>
          <a:prstGeom prst="roundRect">
            <a:avLst>
              <a:gd name="adj" fmla="val 28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6" name="Image 1" descr="/home/claude/src/unpacked/ppt/media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2301321"/>
            <a:ext cx="4998568" cy="344407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obtenidos</a:t>
            </a:r>
            <a:endParaRPr lang="en-US" sz="3000" dirty="0"/>
          </a:p>
        </p:txBody>
      </p:sp>
      <p:sp>
        <p:nvSpPr>
          <p:cNvPr id="3" name="Accuracy"/>
          <p:cNvSpPr/>
          <p:nvPr/>
        </p:nvSpPr>
        <p:spPr>
          <a:xfrm>
            <a:off x="2789024" y="1691640"/>
            <a:ext cx="6613648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4" name="Image 0" descr="/home/claude/build/accuracy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904" y="1874520"/>
            <a:ext cx="6247888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obtenidos</a:t>
            </a:r>
            <a:endParaRPr lang="en-US" sz="3000" dirty="0"/>
          </a:p>
        </p:txBody>
      </p:sp>
      <p:sp>
        <p:nvSpPr>
          <p:cNvPr id="3" name="Puntaje de la atajada"/>
          <p:cNvSpPr/>
          <p:nvPr/>
        </p:nvSpPr>
        <p:spPr>
          <a:xfrm>
            <a:off x="548640" y="1977129"/>
            <a:ext cx="11094415" cy="4092463"/>
          </a:xfrm>
          <a:prstGeom prst="roundRect">
            <a:avLst>
              <a:gd name="adj" fmla="val 268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blurRad="127000" dist="25400" dir="5400000" algn="bl" rotWithShape="0">
              <a:srgbClr val="1E2A3A">
                <a:alpha val="12000"/>
              </a:srgbClr>
            </a:outerShdw>
          </a:effectLst>
        </p:spPr>
      </p:sp>
      <p:pic>
        <p:nvPicPr>
          <p:cNvPr id="4" name="Image 0" descr="/home/claude/build/ataj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60009"/>
            <a:ext cx="10728655" cy="37267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Obstáculos presentados durante el desarrollo</a:t>
            </a:r>
            <a:endParaRPr lang="en-US" sz="3000" dirty="0"/>
          </a:p>
        </p:txBody>
      </p:sp>
      <p:sp>
        <p:nvSpPr>
          <p:cNvPr id="3" name="Obstáculo 1"/>
          <p:cNvSpPr/>
          <p:nvPr/>
        </p:nvSpPr>
        <p:spPr>
          <a:xfrm>
            <a:off x="548640" y="1828800"/>
            <a:ext cx="5029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Falta de recursos para el entrenamiento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 bien tenemos información y hemos logrado entrenar un modelo estable, para abordar más casos necesitamos más muestras.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75808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8" y="2726741"/>
            <a:ext cx="307238" cy="307238"/>
          </a:xfrm>
          <a:prstGeom prst="rect">
            <a:avLst/>
          </a:prstGeom>
        </p:spPr>
      </p:pic>
      <p:sp>
        <p:nvSpPr>
          <p:cNvPr id="9" name="Solución 1"/>
          <p:cNvSpPr/>
          <p:nvPr/>
        </p:nvSpPr>
        <p:spPr>
          <a:xfrm>
            <a:off x="6613855" y="1828800"/>
            <a:ext cx="502920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6933895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542" y="22914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11135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Solución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711135" y="28346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Estamos buscando diferentes fuentes de rodeo las cuales son fiables, con puntaje y justificación, pero fuera de lo profesional.</a:t>
            </a:r>
            <a:endParaRPr lang="en-US" sz="1400" dirty="0"/>
          </a:p>
        </p:txBody>
      </p:sp>
      <p:sp>
        <p:nvSpPr>
          <p:cNvPr id="14" name="Obstáculo 2"/>
          <p:cNvSpPr/>
          <p:nvPr/>
        </p:nvSpPr>
        <p:spPr>
          <a:xfrm>
            <a:off x="548640" y="4251960"/>
            <a:ext cx="50292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45720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645920" y="4526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Complicaciones con el accuracy y loss del modelo inicial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1645920" y="5257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Pese a varios intentos.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775808" y="4983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228" y="5149901"/>
            <a:ext cx="307238" cy="307238"/>
          </a:xfrm>
          <a:prstGeom prst="rect">
            <a:avLst/>
          </a:prstGeom>
        </p:spPr>
      </p:pic>
      <p:sp>
        <p:nvSpPr>
          <p:cNvPr id="20" name="Solución 2"/>
          <p:cNvSpPr/>
          <p:nvPr/>
        </p:nvSpPr>
        <p:spPr>
          <a:xfrm>
            <a:off x="6613855" y="4251960"/>
            <a:ext cx="502920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21" name="Shape 16"/>
          <p:cNvSpPr/>
          <p:nvPr/>
        </p:nvSpPr>
        <p:spPr>
          <a:xfrm>
            <a:off x="6933895" y="4572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542" y="471464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11135" y="4526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Solución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7711135" y="5257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Aplicamos las reglas de rodeo a la clasificación de puntaje usando una fuente de datos desarrollada para alimentar el modelo.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669280" cy="56692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Shape 1"/>
          <p:cNvSpPr/>
          <p:nvPr/>
        </p:nvSpPr>
        <p:spPr>
          <a:xfrm>
            <a:off x="9555480" y="2788920"/>
            <a:ext cx="2286000" cy="22860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3383280"/>
            <a:ext cx="1097280" cy="1097280"/>
          </a:xfrm>
          <a:prstGeom prst="rect">
            <a:avLst/>
          </a:prstGeom>
        </p:spPr>
      </p:pic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26517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Preguntas de la comisión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Proyecto “Ojo de Huaso” · Presentación final Capstone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jo de Huaso">
  <a:themeElements>
    <a:clrScheme name="Ojo de Huaso">
      <a:dk1>
        <a:srgbClr val="1E2A3A"/>
      </a:dk1>
      <a:lt1>
        <a:srgbClr val="FFFFFF"/>
      </a:lt1>
      <a:dk2>
        <a:srgbClr val="13233A"/>
      </a:dk2>
      <a:lt2>
        <a:srgbClr val="F3F5F8"/>
      </a:lt2>
      <a:accent1>
        <a:srgbClr val="F2A900"/>
      </a:accent1>
      <a:accent2>
        <a:srgbClr val="1E3756"/>
      </a:accent2>
      <a:accent3>
        <a:srgbClr val="4A78A8"/>
      </a:accent3>
      <a:accent4>
        <a:srgbClr val="8FA3B8"/>
      </a:accent4>
      <a:accent5>
        <a:srgbClr val="C0392B"/>
      </a:accent5>
      <a:accent6>
        <a:srgbClr val="2E8B57"/>
      </a:accent6>
      <a:hlink>
        <a:srgbClr val="1F5FA8"/>
      </a:hlink>
      <a:folHlink>
        <a:srgbClr val="6B4FA0"/>
      </a:folHlink>
    </a:clrScheme>
    <a:fontScheme name="Ojo de Hua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998</Words>
  <Application>Microsoft Office PowerPoint</Application>
  <PresentationFormat>Panorámica</PresentationFormat>
  <Paragraphs>128</Paragraphs>
  <Slides>17</Slides>
  <Notes>17</Notes>
  <HiddenSlides>1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Ojo de Huaso</vt:lpstr>
      <vt:lpstr>Proyecto “Ojo de Huaso”</vt:lpstr>
      <vt:lpstr>Integrantes del proyecto</vt:lpstr>
      <vt:lpstr>Descripción del proyecto</vt:lpstr>
      <vt:lpstr>Objetivos del proyecto</vt:lpstr>
      <vt:lpstr>Alcance y limitaciones del proyecto</vt:lpstr>
      <vt:lpstr>Metodología de trabajo para el desarrollo del proyecto</vt:lpstr>
      <vt:lpstr>Cronograma o Release Plan para el desarrollo del proyecto</vt:lpstr>
      <vt:lpstr>Arquitectura del software</vt:lpstr>
      <vt:lpstr>Modelo de datos</vt:lpstr>
      <vt:lpstr>Tecnologías utilizadas</vt:lpstr>
      <vt:lpstr>Demostración del resultado del proyecto</vt:lpstr>
      <vt:lpstr>Demostración del resultado del proyecto</vt:lpstr>
      <vt:lpstr>Resultados obtenidos</vt:lpstr>
      <vt:lpstr>Resultados obtenidos</vt:lpstr>
      <vt:lpstr>Resultados obtenidos</vt:lpstr>
      <vt:lpstr>Obstáculos presentados durante el desarrollo</vt:lpstr>
      <vt:lpstr>Preguntas de la comisión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Ojo de Huaso – Presentación final Capstone</dc:title>
  <dc:subject>PptxGenJS Presentation</dc:subject>
  <dc:creator>PptxGenJS</dc:creator>
  <cp:lastModifiedBy>AV-Alumno</cp:lastModifiedBy>
  <cp:revision>2</cp:revision>
  <dcterms:created xsi:type="dcterms:W3CDTF">2026-10-16T15:45:47Z</dcterms:created>
  <dcterms:modified xsi:type="dcterms:W3CDTF">2026-10-16T22:18:18Z</dcterms:modified>
</cp:coreProperties>
</file>