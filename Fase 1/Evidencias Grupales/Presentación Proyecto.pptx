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4" r:id="rId6"/>
    <p:sldId id="260" r:id="rId7"/>
    <p:sldId id="262" r:id="rId8"/>
    <p:sldId id="263" r:id="rId9"/>
    <p:sldId id="269" r:id="rId10"/>
    <p:sldId id="270" r:id="rId11"/>
    <p:sldId id="265" r:id="rId12"/>
    <p:sldId id="267" r:id="rId13"/>
    <p:sldId id="268" r:id="rId14"/>
    <p:sldId id="266" r:id="rId15"/>
  </p:sldIdLst>
  <p:sldSz cx="12192000" cy="6858000"/>
  <p:notesSz cx="6858000" cy="9144000"/>
  <p:defaultTextStyle>
    <a:defPPr>
      <a:defRPr lang="es-C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84" autoAdjust="0"/>
    <p:restoredTop sz="94660"/>
  </p:normalViewPr>
  <p:slideViewPr>
    <p:cSldViewPr snapToGrid="0">
      <p:cViewPr varScale="1">
        <p:scale>
          <a:sx n="123" d="100"/>
          <a:sy n="123" d="100"/>
        </p:scale>
        <p:origin x="114" y="18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image" Target="../media/image2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5_2#1">
  <dgm:title val=""/>
  <dgm:desc val=""/>
  <dgm:catLst>
    <dgm:cat type="accent5" pri="11200"/>
  </dgm:catLst>
  <dgm:styleLbl name="node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5"/>
    </dgm:fillClrLst>
    <dgm:linClrLst meth="repeat">
      <a:schemeClr val="accent5"/>
    </dgm:linClrLst>
    <dgm:effectClrLst/>
    <dgm:txLinClrLst/>
    <dgm:txFillClrLst/>
    <dgm:txEffectClrLst/>
  </dgm:styleLbl>
  <dgm:styleLbl name="lnNode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5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5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5"/>
    </dgm:fillClrLst>
    <dgm:linClrLst meth="repeat">
      <a:schemeClr val="accent5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5">
        <a:tint val="60000"/>
      </a:schemeClr>
    </dgm:fillClrLst>
    <dgm:linClrLst meth="repeat">
      <a:schemeClr val="accent5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5"/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5"/>
    </dgm:fillClrLst>
    <dgm:linClrLst meth="repeat">
      <a:schemeClr val="accent5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/>
    </dgm:fillClrLst>
    <dgm:linClrLst meth="repeat">
      <a:schemeClr val="accent5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5">
        <a:alpha val="90000"/>
        <a:tint val="40000"/>
      </a:schemeClr>
    </dgm:fillClrLst>
    <dgm:linClrLst meth="repeat">
      <a:schemeClr val="accent5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5">
        <a:tint val="40000"/>
      </a:schemeClr>
    </dgm:fillClrLst>
    <dgm:linClrLst meth="repeat">
      <a:schemeClr val="accent5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5">
        <a:shade val="8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5">
        <a:tint val="50000"/>
        <a:alpha val="40000"/>
      </a:schemeClr>
    </dgm:fillClrLst>
    <dgm:linClrLst meth="repeat">
      <a:schemeClr val="accent5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5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BE45140C-C326-4DAA-A267-498AD5117D68}" type="doc">
      <dgm:prSet loTypeId="urn:microsoft.com/office/officeart/2005/8/layout/vList4" loCatId="picture" qsTypeId="urn:microsoft.com/office/officeart/2005/8/quickstyle/simple5#1" qsCatId="simple" csTypeId="urn:microsoft.com/office/officeart/2005/8/colors/accent5_2#1" csCatId="accent5" phldr="1"/>
      <dgm:spPr/>
      <dgm:t>
        <a:bodyPr/>
        <a:lstStyle/>
        <a:p>
          <a:endParaRPr lang="es-CL"/>
        </a:p>
      </dgm:t>
    </dgm:pt>
    <dgm:pt modelId="{78BFB295-8F5D-4286-B72B-79142F8F0E13}">
      <dgm:prSet phldrT="[Texto]"/>
      <dgm:spPr/>
      <dgm:t>
        <a:bodyPr/>
        <a:lstStyle/>
        <a:p>
          <a:r>
            <a:rPr lang="es-CL" dirty="0"/>
            <a:t>Juan Carlos Reyes Melo</a:t>
          </a:r>
        </a:p>
      </dgm:t>
    </dgm:pt>
    <dgm:pt modelId="{F1885FAB-61EC-4F80-98D0-72360031AF9F}" type="parTrans" cxnId="{2AD07198-D472-4B98-B6D5-5A730374E9A2}">
      <dgm:prSet/>
      <dgm:spPr/>
      <dgm:t>
        <a:bodyPr/>
        <a:lstStyle/>
        <a:p>
          <a:endParaRPr lang="es-CL"/>
        </a:p>
      </dgm:t>
    </dgm:pt>
    <dgm:pt modelId="{E88D0928-51D4-4670-8963-60ABBB193E13}" type="sibTrans" cxnId="{2AD07198-D472-4B98-B6D5-5A730374E9A2}">
      <dgm:prSet/>
      <dgm:spPr/>
      <dgm:t>
        <a:bodyPr/>
        <a:lstStyle/>
        <a:p>
          <a:endParaRPr lang="es-CL"/>
        </a:p>
      </dgm:t>
    </dgm:pt>
    <dgm:pt modelId="{D868444B-AE34-4422-A6A5-1F7D392D0C20}">
      <dgm:prSet phldrT="[Texto]"/>
      <dgm:spPr/>
      <dgm:t>
        <a:bodyPr/>
        <a:lstStyle/>
        <a:p>
          <a:r>
            <a:rPr lang="es-ES" dirty="0"/>
            <a:t>Scrum Master</a:t>
          </a:r>
          <a:endParaRPr lang="es-CL" dirty="0"/>
        </a:p>
      </dgm:t>
    </dgm:pt>
    <dgm:pt modelId="{7DB88D83-6C3A-48C1-8CAD-0D11C3BEC35C}" type="parTrans" cxnId="{484B8A37-0122-4FF5-93D2-4A15DF521A17}">
      <dgm:prSet/>
      <dgm:spPr/>
      <dgm:t>
        <a:bodyPr/>
        <a:lstStyle/>
        <a:p>
          <a:endParaRPr lang="es-CL"/>
        </a:p>
      </dgm:t>
    </dgm:pt>
    <dgm:pt modelId="{74B9B1A5-94EB-40A9-BFF2-678501068FB8}" type="sibTrans" cxnId="{484B8A37-0122-4FF5-93D2-4A15DF521A17}">
      <dgm:prSet/>
      <dgm:spPr/>
      <dgm:t>
        <a:bodyPr/>
        <a:lstStyle/>
        <a:p>
          <a:endParaRPr lang="es-CL"/>
        </a:p>
      </dgm:t>
    </dgm:pt>
    <dgm:pt modelId="{02A34BC0-F8BA-4A89-87A4-4F20079DFD06}">
      <dgm:prSet phldrT="[Texto]"/>
      <dgm:spPr/>
      <dgm:t>
        <a:bodyPr/>
        <a:lstStyle/>
        <a:p>
          <a:r>
            <a:rPr lang="es-ES" dirty="0"/>
            <a:t>Vicente José Ansaldi Gutiérrez</a:t>
          </a:r>
          <a:endParaRPr lang="es-CL" dirty="0"/>
        </a:p>
      </dgm:t>
    </dgm:pt>
    <dgm:pt modelId="{9ADB496F-2DB6-4F16-8C91-2EB9CDF5F2F2}" type="parTrans" cxnId="{0E2AE979-A66C-4CEC-BFF4-5B28BB7CD9EA}">
      <dgm:prSet/>
      <dgm:spPr/>
      <dgm:t>
        <a:bodyPr/>
        <a:lstStyle/>
        <a:p>
          <a:endParaRPr lang="es-CL"/>
        </a:p>
      </dgm:t>
    </dgm:pt>
    <dgm:pt modelId="{44AB630E-CD8B-4223-9F51-5EEE4E054B0A}" type="sibTrans" cxnId="{0E2AE979-A66C-4CEC-BFF4-5B28BB7CD9EA}">
      <dgm:prSet/>
      <dgm:spPr/>
      <dgm:t>
        <a:bodyPr/>
        <a:lstStyle/>
        <a:p>
          <a:endParaRPr lang="es-CL"/>
        </a:p>
      </dgm:t>
    </dgm:pt>
    <dgm:pt modelId="{99FF0D0F-282A-4030-9AF5-3B7621881539}">
      <dgm:prSet phldrT="[Texto]"/>
      <dgm:spPr/>
      <dgm:t>
        <a:bodyPr/>
        <a:lstStyle/>
        <a:p>
          <a:r>
            <a:rPr lang="es-CL"/>
            <a:t>Lesther Alberto Araya Valdivia</a:t>
          </a:r>
          <a:endParaRPr lang="es-CL" dirty="0"/>
        </a:p>
      </dgm:t>
    </dgm:pt>
    <dgm:pt modelId="{A86F315C-C500-49D7-B443-1D58BD48589A}" type="parTrans" cxnId="{4FE7AF63-70AC-4ED4-8BFB-DCB2408F3318}">
      <dgm:prSet/>
      <dgm:spPr/>
      <dgm:t>
        <a:bodyPr/>
        <a:lstStyle/>
        <a:p>
          <a:endParaRPr lang="es-CL"/>
        </a:p>
      </dgm:t>
    </dgm:pt>
    <dgm:pt modelId="{1CCC8D2D-CD28-4814-B055-28ABD65CA276}" type="sibTrans" cxnId="{4FE7AF63-70AC-4ED4-8BFB-DCB2408F3318}">
      <dgm:prSet/>
      <dgm:spPr/>
      <dgm:t>
        <a:bodyPr/>
        <a:lstStyle/>
        <a:p>
          <a:endParaRPr lang="es-CL"/>
        </a:p>
      </dgm:t>
    </dgm:pt>
    <dgm:pt modelId="{2E221207-005F-49CB-81E1-6D036D64322B}">
      <dgm:prSet phldrT="[Texto]"/>
      <dgm:spPr/>
      <dgm:t>
        <a:bodyPr/>
        <a:lstStyle/>
        <a:p>
          <a:r>
            <a:rPr lang="es-MX" dirty="0"/>
            <a:t>Encargado de la correcta introducción de Scrum</a:t>
          </a:r>
          <a:endParaRPr lang="es-CL" dirty="0"/>
        </a:p>
      </dgm:t>
    </dgm:pt>
    <dgm:pt modelId="{3728DB5E-E904-481D-A1E5-49CF4AFFC0D3}" type="sibTrans" cxnId="{1C3272C9-C630-4D60-B76B-138907BB4D41}">
      <dgm:prSet/>
      <dgm:spPr/>
      <dgm:t>
        <a:bodyPr/>
        <a:lstStyle/>
        <a:p>
          <a:endParaRPr lang="es-CL"/>
        </a:p>
      </dgm:t>
    </dgm:pt>
    <dgm:pt modelId="{B200B6AA-AA2A-4CB8-80FF-4BB54938E8A5}" type="parTrans" cxnId="{1C3272C9-C630-4D60-B76B-138907BB4D41}">
      <dgm:prSet/>
      <dgm:spPr/>
      <dgm:t>
        <a:bodyPr/>
        <a:lstStyle/>
        <a:p>
          <a:endParaRPr lang="es-CL"/>
        </a:p>
      </dgm:t>
    </dgm:pt>
    <dgm:pt modelId="{A2BD12B5-7AB5-4859-B57E-1E77C0ED35DF}">
      <dgm:prSet phldrT="[Texto]"/>
      <dgm:spPr/>
      <dgm:t>
        <a:bodyPr/>
        <a:lstStyle/>
        <a:p>
          <a:r>
            <a:rPr lang="es-CL" dirty="0"/>
            <a:t>Ingenieros de Machine </a:t>
          </a:r>
          <a:r>
            <a:rPr lang="es-CL" dirty="0" err="1"/>
            <a:t>Learning</a:t>
          </a:r>
          <a:endParaRPr lang="es-CL" dirty="0"/>
        </a:p>
      </dgm:t>
    </dgm:pt>
    <dgm:pt modelId="{35EEEEB1-B116-40C6-8142-8F938AF38B0B}" type="sibTrans" cxnId="{D5771F2D-99A4-4884-A896-FA1E2DEFDD88}">
      <dgm:prSet/>
      <dgm:spPr/>
      <dgm:t>
        <a:bodyPr/>
        <a:lstStyle/>
        <a:p>
          <a:endParaRPr lang="es-CL"/>
        </a:p>
      </dgm:t>
    </dgm:pt>
    <dgm:pt modelId="{AC7F7F07-A811-4CCD-BBFE-DAA4D1F5EE40}" type="parTrans" cxnId="{D5771F2D-99A4-4884-A896-FA1E2DEFDD88}">
      <dgm:prSet/>
      <dgm:spPr/>
      <dgm:t>
        <a:bodyPr/>
        <a:lstStyle/>
        <a:p>
          <a:endParaRPr lang="es-CL"/>
        </a:p>
      </dgm:t>
    </dgm:pt>
    <dgm:pt modelId="{D546635F-000B-49DF-BB26-293CCA777400}">
      <dgm:prSet phldrT="[Texto]"/>
      <dgm:spPr/>
      <dgm:t>
        <a:bodyPr/>
        <a:lstStyle/>
        <a:p>
          <a:r>
            <a:rPr lang="es-MX" dirty="0"/>
            <a:t>Diseñar, construir y desplegar modelos de aprendizaje </a:t>
          </a:r>
          <a:r>
            <a:rPr lang="es-MX" dirty="0" err="1"/>
            <a:t>automatico</a:t>
          </a:r>
          <a:endParaRPr lang="es-CL" dirty="0"/>
        </a:p>
      </dgm:t>
    </dgm:pt>
    <dgm:pt modelId="{B01A0825-9EDF-4B9A-B345-1B486D914AD4}" type="sibTrans" cxnId="{AC0A7FF3-EEC4-470A-823E-BF7AF1556A99}">
      <dgm:prSet/>
      <dgm:spPr/>
      <dgm:t>
        <a:bodyPr/>
        <a:lstStyle/>
        <a:p>
          <a:endParaRPr lang="es-CL"/>
        </a:p>
      </dgm:t>
    </dgm:pt>
    <dgm:pt modelId="{5437D343-BECF-4620-B6C7-7088D8BBD91B}" type="parTrans" cxnId="{AC0A7FF3-EEC4-470A-823E-BF7AF1556A99}">
      <dgm:prSet/>
      <dgm:spPr/>
      <dgm:t>
        <a:bodyPr/>
        <a:lstStyle/>
        <a:p>
          <a:endParaRPr lang="es-CL"/>
        </a:p>
      </dgm:t>
    </dgm:pt>
    <dgm:pt modelId="{EA3B2395-55AF-495E-9D6B-329D2886612F}">
      <dgm:prSet phldrT="[Texto]"/>
      <dgm:spPr/>
      <dgm:t>
        <a:bodyPr/>
        <a:lstStyle/>
        <a:p>
          <a:r>
            <a:rPr lang="es-ES" dirty="0"/>
            <a:t>Arquitecto de Software</a:t>
          </a:r>
          <a:endParaRPr lang="es-CL" dirty="0"/>
        </a:p>
      </dgm:t>
    </dgm:pt>
    <dgm:pt modelId="{11A4E056-7834-4F82-8A9C-B8EA31F159E3}" type="sibTrans" cxnId="{778F2DBC-81F3-476D-BD99-784E4F7153C8}">
      <dgm:prSet/>
      <dgm:spPr/>
      <dgm:t>
        <a:bodyPr/>
        <a:lstStyle/>
        <a:p>
          <a:endParaRPr lang="es-CL"/>
        </a:p>
      </dgm:t>
    </dgm:pt>
    <dgm:pt modelId="{01DA10B6-3F7A-4C8A-AACD-F605EE6CCF20}" type="parTrans" cxnId="{778F2DBC-81F3-476D-BD99-784E4F7153C8}">
      <dgm:prSet/>
      <dgm:spPr/>
      <dgm:t>
        <a:bodyPr/>
        <a:lstStyle/>
        <a:p>
          <a:endParaRPr lang="es-CL"/>
        </a:p>
      </dgm:t>
    </dgm:pt>
    <dgm:pt modelId="{55A2A9EB-4C26-43C3-B721-D475B10BC39B}">
      <dgm:prSet phldrT="[Texto]"/>
      <dgm:spPr/>
      <dgm:t>
        <a:bodyPr/>
        <a:lstStyle/>
        <a:p>
          <a:r>
            <a:rPr lang="es-MX" dirty="0"/>
            <a:t>Selección de tecnologías e incorporación de estas</a:t>
          </a:r>
          <a:endParaRPr lang="es-CL" dirty="0"/>
        </a:p>
      </dgm:t>
    </dgm:pt>
    <dgm:pt modelId="{4EF4588A-187C-4393-9DFC-C6D80B20E995}" type="sibTrans" cxnId="{ECED70CB-7A25-48F8-9E03-51596FB1E92C}">
      <dgm:prSet/>
      <dgm:spPr/>
      <dgm:t>
        <a:bodyPr/>
        <a:lstStyle/>
        <a:p>
          <a:endParaRPr lang="es-CL"/>
        </a:p>
      </dgm:t>
    </dgm:pt>
    <dgm:pt modelId="{B8424EB2-FFE7-4867-9D5A-EE0D46E8AAFE}" type="parTrans" cxnId="{ECED70CB-7A25-48F8-9E03-51596FB1E92C}">
      <dgm:prSet/>
      <dgm:spPr/>
      <dgm:t>
        <a:bodyPr/>
        <a:lstStyle/>
        <a:p>
          <a:endParaRPr lang="es-CL"/>
        </a:p>
      </dgm:t>
    </dgm:pt>
    <dgm:pt modelId="{6E1E561E-88C1-49C6-A3F7-DE4B9AD43273}" type="pres">
      <dgm:prSet presAssocID="{BE45140C-C326-4DAA-A267-498AD5117D68}" presName="linear" presStyleCnt="0">
        <dgm:presLayoutVars>
          <dgm:dir/>
          <dgm:resizeHandles val="exact"/>
        </dgm:presLayoutVars>
      </dgm:prSet>
      <dgm:spPr/>
    </dgm:pt>
    <dgm:pt modelId="{F70979D0-5925-4EC3-AD84-986E0EC7B0D8}" type="pres">
      <dgm:prSet presAssocID="{78BFB295-8F5D-4286-B72B-79142F8F0E13}" presName="comp" presStyleCnt="0"/>
      <dgm:spPr/>
    </dgm:pt>
    <dgm:pt modelId="{54FC4CB6-0791-48D3-B2C5-2E99B8AFCFF7}" type="pres">
      <dgm:prSet presAssocID="{78BFB295-8F5D-4286-B72B-79142F8F0E13}" presName="box" presStyleLbl="node1" presStyleIdx="0" presStyleCnt="3" custLinFactNeighborX="5318" custLinFactNeighborY="-12417"/>
      <dgm:spPr/>
    </dgm:pt>
    <dgm:pt modelId="{9A7E2690-DE9C-4572-9BE5-B8C9A3B8BBB3}" type="pres">
      <dgm:prSet presAssocID="{78BFB295-8F5D-4286-B72B-79142F8F0E13}" presName="img" presStyleLbl="fgImgPlace1" presStyleIdx="0" presStyleCnt="3"/>
      <dgm:spPr>
        <a:blipFill>
          <a:blip xmlns:r="http://schemas.openxmlformats.org/officeDocument/2006/relationships" r:embed="rId1"/>
          <a:srcRect/>
          <a:stretch>
            <a:fillRect t="-20000" b="-20000"/>
          </a:stretch>
        </a:blipFill>
      </dgm:spPr>
    </dgm:pt>
    <dgm:pt modelId="{52D125D2-FCA7-4A2D-AB39-B6BD54F251F2}" type="pres">
      <dgm:prSet presAssocID="{78BFB295-8F5D-4286-B72B-79142F8F0E13}" presName="text" presStyleLbl="node1" presStyleIdx="0" presStyleCnt="3">
        <dgm:presLayoutVars>
          <dgm:bulletEnabled val="1"/>
        </dgm:presLayoutVars>
      </dgm:prSet>
      <dgm:spPr/>
    </dgm:pt>
    <dgm:pt modelId="{E95CA29D-745B-40BA-93B6-BB607C99A2CE}" type="pres">
      <dgm:prSet presAssocID="{E88D0928-51D4-4670-8963-60ABBB193E13}" presName="spacer" presStyleCnt="0"/>
      <dgm:spPr/>
    </dgm:pt>
    <dgm:pt modelId="{41A67AC8-1DD7-4AB7-96A3-87B24035E3FA}" type="pres">
      <dgm:prSet presAssocID="{02A34BC0-F8BA-4A89-87A4-4F20079DFD06}" presName="comp" presStyleCnt="0"/>
      <dgm:spPr/>
    </dgm:pt>
    <dgm:pt modelId="{39AFE128-ACF6-44CA-B18B-64F5782CF210}" type="pres">
      <dgm:prSet presAssocID="{02A34BC0-F8BA-4A89-87A4-4F20079DFD06}" presName="box" presStyleLbl="node1" presStyleIdx="1" presStyleCnt="3"/>
      <dgm:spPr/>
    </dgm:pt>
    <dgm:pt modelId="{3F97C059-D720-4D48-953F-B84D04D0BF79}" type="pres">
      <dgm:prSet presAssocID="{02A34BC0-F8BA-4A89-87A4-4F20079DFD06}" presName="img" presStyleLbl="fgImgPlace1" presStyleIdx="1" presStyleCnt="3"/>
      <dgm:spPr>
        <a:blipFill>
          <a:blip xmlns:r="http://schemas.openxmlformats.org/officeDocument/2006/relationships" r:embed="rId2"/>
          <a:srcRect/>
          <a:stretch>
            <a:fillRect t="-20000" b="-20000"/>
          </a:stretch>
        </a:blipFill>
      </dgm:spPr>
    </dgm:pt>
    <dgm:pt modelId="{CFFDF23F-D296-4CDF-8EE4-8A672559E207}" type="pres">
      <dgm:prSet presAssocID="{02A34BC0-F8BA-4A89-87A4-4F20079DFD06}" presName="text" presStyleLbl="node1" presStyleIdx="1" presStyleCnt="3">
        <dgm:presLayoutVars>
          <dgm:bulletEnabled val="1"/>
        </dgm:presLayoutVars>
      </dgm:prSet>
      <dgm:spPr/>
    </dgm:pt>
    <dgm:pt modelId="{40453781-DACE-4118-ADC4-2B966E9374E5}" type="pres">
      <dgm:prSet presAssocID="{44AB630E-CD8B-4223-9F51-5EEE4E054B0A}" presName="spacer" presStyleCnt="0"/>
      <dgm:spPr/>
    </dgm:pt>
    <dgm:pt modelId="{536722F8-2BA5-41A1-87DF-BBB1AF7DCA80}" type="pres">
      <dgm:prSet presAssocID="{99FF0D0F-282A-4030-9AF5-3B7621881539}" presName="comp" presStyleCnt="0"/>
      <dgm:spPr/>
    </dgm:pt>
    <dgm:pt modelId="{F36F4ED1-B414-46B8-A8C5-C0FB11F5CFBC}" type="pres">
      <dgm:prSet presAssocID="{99FF0D0F-282A-4030-9AF5-3B7621881539}" presName="box" presStyleLbl="node1" presStyleIdx="2" presStyleCnt="3"/>
      <dgm:spPr/>
    </dgm:pt>
    <dgm:pt modelId="{7C6A764B-C67C-494C-B90E-7B3C3DDE54A4}" type="pres">
      <dgm:prSet presAssocID="{99FF0D0F-282A-4030-9AF5-3B7621881539}" presName="img" presStyleLbl="fgImgPlace1" presStyleIdx="2" presStyleCnt="3"/>
      <dgm:spPr>
        <a:blipFill>
          <a:blip xmlns:r="http://schemas.openxmlformats.org/officeDocument/2006/relationships" r:embed="rId3"/>
          <a:srcRect/>
          <a:stretch>
            <a:fillRect t="-20000" b="-20000"/>
          </a:stretch>
        </a:blipFill>
      </dgm:spPr>
    </dgm:pt>
    <dgm:pt modelId="{0E12AD21-08CC-4736-A269-DD5234F9D874}" type="pres">
      <dgm:prSet presAssocID="{99FF0D0F-282A-4030-9AF5-3B7621881539}" presName="text" presStyleLbl="node1" presStyleIdx="2" presStyleCnt="3">
        <dgm:presLayoutVars>
          <dgm:bulletEnabled val="1"/>
        </dgm:presLayoutVars>
      </dgm:prSet>
      <dgm:spPr/>
    </dgm:pt>
  </dgm:ptLst>
  <dgm:cxnLst>
    <dgm:cxn modelId="{399BD705-2380-48A3-9C48-1D49A5A32D61}" type="presOf" srcId="{2E221207-005F-49CB-81E1-6D036D64322B}" destId="{52D125D2-FCA7-4A2D-AB39-B6BD54F251F2}" srcOrd="1" destOrd="2" presId="urn:microsoft.com/office/officeart/2005/8/layout/vList4"/>
    <dgm:cxn modelId="{D2B94F0C-C779-4AC1-87E4-35116A3DED02}" type="presOf" srcId="{78BFB295-8F5D-4286-B72B-79142F8F0E13}" destId="{54FC4CB6-0791-48D3-B2C5-2E99B8AFCFF7}" srcOrd="0" destOrd="0" presId="urn:microsoft.com/office/officeart/2005/8/layout/vList4"/>
    <dgm:cxn modelId="{D5771F2D-99A4-4884-A896-FA1E2DEFDD88}" srcId="{99FF0D0F-282A-4030-9AF5-3B7621881539}" destId="{A2BD12B5-7AB5-4859-B57E-1E77C0ED35DF}" srcOrd="0" destOrd="0" parTransId="{AC7F7F07-A811-4CCD-BBFE-DAA4D1F5EE40}" sibTransId="{35EEEEB1-B116-40C6-8142-8F938AF38B0B}"/>
    <dgm:cxn modelId="{3A21ED2D-BFFE-4942-BD04-AB5B9DC419E5}" type="presOf" srcId="{99FF0D0F-282A-4030-9AF5-3B7621881539}" destId="{F36F4ED1-B414-46B8-A8C5-C0FB11F5CFBC}" srcOrd="0" destOrd="0" presId="urn:microsoft.com/office/officeart/2005/8/layout/vList4"/>
    <dgm:cxn modelId="{A6E20436-8EF1-4FFF-9C29-AC69BF1D5C4A}" type="presOf" srcId="{02A34BC0-F8BA-4A89-87A4-4F20079DFD06}" destId="{39AFE128-ACF6-44CA-B18B-64F5782CF210}" srcOrd="0" destOrd="0" presId="urn:microsoft.com/office/officeart/2005/8/layout/vList4"/>
    <dgm:cxn modelId="{484B8A37-0122-4FF5-93D2-4A15DF521A17}" srcId="{78BFB295-8F5D-4286-B72B-79142F8F0E13}" destId="{D868444B-AE34-4422-A6A5-1F7D392D0C20}" srcOrd="0" destOrd="0" parTransId="{7DB88D83-6C3A-48C1-8CAD-0D11C3BEC35C}" sibTransId="{74B9B1A5-94EB-40A9-BFF2-678501068FB8}"/>
    <dgm:cxn modelId="{040FC75B-63D6-4205-A996-7A824AA266CE}" type="presOf" srcId="{A2BD12B5-7AB5-4859-B57E-1E77C0ED35DF}" destId="{0E12AD21-08CC-4736-A269-DD5234F9D874}" srcOrd="1" destOrd="1" presId="urn:microsoft.com/office/officeart/2005/8/layout/vList4"/>
    <dgm:cxn modelId="{22F3405C-AB8E-4AC3-A83C-C551BA0831ED}" type="presOf" srcId="{55A2A9EB-4C26-43C3-B721-D475B10BC39B}" destId="{39AFE128-ACF6-44CA-B18B-64F5782CF210}" srcOrd="0" destOrd="2" presId="urn:microsoft.com/office/officeart/2005/8/layout/vList4"/>
    <dgm:cxn modelId="{7E8FC05E-FE02-4336-B1F8-3EAA05519A49}" type="presOf" srcId="{D868444B-AE34-4422-A6A5-1F7D392D0C20}" destId="{54FC4CB6-0791-48D3-B2C5-2E99B8AFCFF7}" srcOrd="0" destOrd="1" presId="urn:microsoft.com/office/officeart/2005/8/layout/vList4"/>
    <dgm:cxn modelId="{4FE7AF63-70AC-4ED4-8BFB-DCB2408F3318}" srcId="{BE45140C-C326-4DAA-A267-498AD5117D68}" destId="{99FF0D0F-282A-4030-9AF5-3B7621881539}" srcOrd="2" destOrd="0" parTransId="{A86F315C-C500-49D7-B443-1D58BD48589A}" sibTransId="{1CCC8D2D-CD28-4814-B055-28ABD65CA276}"/>
    <dgm:cxn modelId="{3F2A6752-A5BB-4F63-B720-93C45E0B4F56}" type="presOf" srcId="{D546635F-000B-49DF-BB26-293CCA777400}" destId="{F36F4ED1-B414-46B8-A8C5-C0FB11F5CFBC}" srcOrd="0" destOrd="2" presId="urn:microsoft.com/office/officeart/2005/8/layout/vList4"/>
    <dgm:cxn modelId="{DC02AD53-682D-464B-9D09-C1B6DCD5AFB0}" type="presOf" srcId="{55A2A9EB-4C26-43C3-B721-D475B10BC39B}" destId="{CFFDF23F-D296-4CDF-8EE4-8A672559E207}" srcOrd="1" destOrd="2" presId="urn:microsoft.com/office/officeart/2005/8/layout/vList4"/>
    <dgm:cxn modelId="{0E2AE979-A66C-4CEC-BFF4-5B28BB7CD9EA}" srcId="{BE45140C-C326-4DAA-A267-498AD5117D68}" destId="{02A34BC0-F8BA-4A89-87A4-4F20079DFD06}" srcOrd="1" destOrd="0" parTransId="{9ADB496F-2DB6-4F16-8C91-2EB9CDF5F2F2}" sibTransId="{44AB630E-CD8B-4223-9F51-5EEE4E054B0A}"/>
    <dgm:cxn modelId="{2AD07198-D472-4B98-B6D5-5A730374E9A2}" srcId="{BE45140C-C326-4DAA-A267-498AD5117D68}" destId="{78BFB295-8F5D-4286-B72B-79142F8F0E13}" srcOrd="0" destOrd="0" parTransId="{F1885FAB-61EC-4F80-98D0-72360031AF9F}" sibTransId="{E88D0928-51D4-4670-8963-60ABBB193E13}"/>
    <dgm:cxn modelId="{FBEF4C9A-E5D4-462C-B35F-96C87426BEAB}" type="presOf" srcId="{A2BD12B5-7AB5-4859-B57E-1E77C0ED35DF}" destId="{F36F4ED1-B414-46B8-A8C5-C0FB11F5CFBC}" srcOrd="0" destOrd="1" presId="urn:microsoft.com/office/officeart/2005/8/layout/vList4"/>
    <dgm:cxn modelId="{690A389C-25C1-485B-88F9-437236A47744}" type="presOf" srcId="{BE45140C-C326-4DAA-A267-498AD5117D68}" destId="{6E1E561E-88C1-49C6-A3F7-DE4B9AD43273}" srcOrd="0" destOrd="0" presId="urn:microsoft.com/office/officeart/2005/8/layout/vList4"/>
    <dgm:cxn modelId="{ECFD91A4-F44F-4C84-8B25-37DA0B249A1F}" type="presOf" srcId="{78BFB295-8F5D-4286-B72B-79142F8F0E13}" destId="{52D125D2-FCA7-4A2D-AB39-B6BD54F251F2}" srcOrd="1" destOrd="0" presId="urn:microsoft.com/office/officeart/2005/8/layout/vList4"/>
    <dgm:cxn modelId="{67DE09B5-392E-4661-A7AE-A0572D63DA68}" type="presOf" srcId="{99FF0D0F-282A-4030-9AF5-3B7621881539}" destId="{0E12AD21-08CC-4736-A269-DD5234F9D874}" srcOrd="1" destOrd="0" presId="urn:microsoft.com/office/officeart/2005/8/layout/vList4"/>
    <dgm:cxn modelId="{778F2DBC-81F3-476D-BD99-784E4F7153C8}" srcId="{02A34BC0-F8BA-4A89-87A4-4F20079DFD06}" destId="{EA3B2395-55AF-495E-9D6B-329D2886612F}" srcOrd="0" destOrd="0" parTransId="{01DA10B6-3F7A-4C8A-AACD-F605EE6CCF20}" sibTransId="{11A4E056-7834-4F82-8A9C-B8EA31F159E3}"/>
    <dgm:cxn modelId="{FE5360C5-555C-42B2-9E63-16D2D46F21B1}" type="presOf" srcId="{D868444B-AE34-4422-A6A5-1F7D392D0C20}" destId="{52D125D2-FCA7-4A2D-AB39-B6BD54F251F2}" srcOrd="1" destOrd="1" presId="urn:microsoft.com/office/officeart/2005/8/layout/vList4"/>
    <dgm:cxn modelId="{1C3272C9-C630-4D60-B76B-138907BB4D41}" srcId="{78BFB295-8F5D-4286-B72B-79142F8F0E13}" destId="{2E221207-005F-49CB-81E1-6D036D64322B}" srcOrd="1" destOrd="0" parTransId="{B200B6AA-AA2A-4CB8-80FF-4BB54938E8A5}" sibTransId="{3728DB5E-E904-481D-A1E5-49CF4AFFC0D3}"/>
    <dgm:cxn modelId="{B0C181C9-77EB-4775-B9E6-C6CBDA60E6EB}" type="presOf" srcId="{EA3B2395-55AF-495E-9D6B-329D2886612F}" destId="{CFFDF23F-D296-4CDF-8EE4-8A672559E207}" srcOrd="1" destOrd="1" presId="urn:microsoft.com/office/officeart/2005/8/layout/vList4"/>
    <dgm:cxn modelId="{ECED70CB-7A25-48F8-9E03-51596FB1E92C}" srcId="{02A34BC0-F8BA-4A89-87A4-4F20079DFD06}" destId="{55A2A9EB-4C26-43C3-B721-D475B10BC39B}" srcOrd="1" destOrd="0" parTransId="{B8424EB2-FFE7-4867-9D5A-EE0D46E8AAFE}" sibTransId="{4EF4588A-187C-4393-9DFC-C6D80B20E995}"/>
    <dgm:cxn modelId="{D1C04ECF-982A-425F-B2B1-9CF15BCEB83B}" type="presOf" srcId="{D546635F-000B-49DF-BB26-293CCA777400}" destId="{0E12AD21-08CC-4736-A269-DD5234F9D874}" srcOrd="1" destOrd="2" presId="urn:microsoft.com/office/officeart/2005/8/layout/vList4"/>
    <dgm:cxn modelId="{22A4C7D2-C14A-4622-8C4E-3FE51F50DCC3}" type="presOf" srcId="{02A34BC0-F8BA-4A89-87A4-4F20079DFD06}" destId="{CFFDF23F-D296-4CDF-8EE4-8A672559E207}" srcOrd="1" destOrd="0" presId="urn:microsoft.com/office/officeart/2005/8/layout/vList4"/>
    <dgm:cxn modelId="{A70C9FD5-2935-4C81-937A-B6C05F5E54BA}" type="presOf" srcId="{2E221207-005F-49CB-81E1-6D036D64322B}" destId="{54FC4CB6-0791-48D3-B2C5-2E99B8AFCFF7}" srcOrd="0" destOrd="2" presId="urn:microsoft.com/office/officeart/2005/8/layout/vList4"/>
    <dgm:cxn modelId="{AC0A7FF3-EEC4-470A-823E-BF7AF1556A99}" srcId="{99FF0D0F-282A-4030-9AF5-3B7621881539}" destId="{D546635F-000B-49DF-BB26-293CCA777400}" srcOrd="1" destOrd="0" parTransId="{5437D343-BECF-4620-B6C7-7088D8BBD91B}" sibTransId="{B01A0825-9EDF-4B9A-B345-1B486D914AD4}"/>
    <dgm:cxn modelId="{7ABE08FD-4ED4-44FB-BFBA-794B6C5FA813}" type="presOf" srcId="{EA3B2395-55AF-495E-9D6B-329D2886612F}" destId="{39AFE128-ACF6-44CA-B18B-64F5782CF210}" srcOrd="0" destOrd="1" presId="urn:microsoft.com/office/officeart/2005/8/layout/vList4"/>
    <dgm:cxn modelId="{DA463EE6-78DB-4E59-8099-EBA029F401B0}" type="presParOf" srcId="{6E1E561E-88C1-49C6-A3F7-DE4B9AD43273}" destId="{F70979D0-5925-4EC3-AD84-986E0EC7B0D8}" srcOrd="0" destOrd="0" presId="urn:microsoft.com/office/officeart/2005/8/layout/vList4"/>
    <dgm:cxn modelId="{2FE346D7-6685-4BD0-9465-988681234E35}" type="presParOf" srcId="{F70979D0-5925-4EC3-AD84-986E0EC7B0D8}" destId="{54FC4CB6-0791-48D3-B2C5-2E99B8AFCFF7}" srcOrd="0" destOrd="0" presId="urn:microsoft.com/office/officeart/2005/8/layout/vList4"/>
    <dgm:cxn modelId="{3671DC51-8308-4E14-B210-C8528BB18500}" type="presParOf" srcId="{F70979D0-5925-4EC3-AD84-986E0EC7B0D8}" destId="{9A7E2690-DE9C-4572-9BE5-B8C9A3B8BBB3}" srcOrd="1" destOrd="0" presId="urn:microsoft.com/office/officeart/2005/8/layout/vList4"/>
    <dgm:cxn modelId="{36512CCB-6AF4-4E79-94F2-3EAFE5E8BC48}" type="presParOf" srcId="{F70979D0-5925-4EC3-AD84-986E0EC7B0D8}" destId="{52D125D2-FCA7-4A2D-AB39-B6BD54F251F2}" srcOrd="2" destOrd="0" presId="urn:microsoft.com/office/officeart/2005/8/layout/vList4"/>
    <dgm:cxn modelId="{ECC56BF9-E938-422B-98CD-A358ACD6F8DC}" type="presParOf" srcId="{6E1E561E-88C1-49C6-A3F7-DE4B9AD43273}" destId="{E95CA29D-745B-40BA-93B6-BB607C99A2CE}" srcOrd="1" destOrd="0" presId="urn:microsoft.com/office/officeart/2005/8/layout/vList4"/>
    <dgm:cxn modelId="{158F6488-FF9D-4053-8FD1-E0DD5F22ECAD}" type="presParOf" srcId="{6E1E561E-88C1-49C6-A3F7-DE4B9AD43273}" destId="{41A67AC8-1DD7-4AB7-96A3-87B24035E3FA}" srcOrd="2" destOrd="0" presId="urn:microsoft.com/office/officeart/2005/8/layout/vList4"/>
    <dgm:cxn modelId="{236FF4A9-4957-4F7A-A24B-795FE34BEEFD}" type="presParOf" srcId="{41A67AC8-1DD7-4AB7-96A3-87B24035E3FA}" destId="{39AFE128-ACF6-44CA-B18B-64F5782CF210}" srcOrd="0" destOrd="0" presId="urn:microsoft.com/office/officeart/2005/8/layout/vList4"/>
    <dgm:cxn modelId="{5BD15FCC-0B87-4D85-98EC-9D897E4655EE}" type="presParOf" srcId="{41A67AC8-1DD7-4AB7-96A3-87B24035E3FA}" destId="{3F97C059-D720-4D48-953F-B84D04D0BF79}" srcOrd="1" destOrd="0" presId="urn:microsoft.com/office/officeart/2005/8/layout/vList4"/>
    <dgm:cxn modelId="{3156CEE4-28C8-4C16-85AC-EE6796DAD482}" type="presParOf" srcId="{41A67AC8-1DD7-4AB7-96A3-87B24035E3FA}" destId="{CFFDF23F-D296-4CDF-8EE4-8A672559E207}" srcOrd="2" destOrd="0" presId="urn:microsoft.com/office/officeart/2005/8/layout/vList4"/>
    <dgm:cxn modelId="{C9CD1524-D5D2-47DD-A731-469F83B73691}" type="presParOf" srcId="{6E1E561E-88C1-49C6-A3F7-DE4B9AD43273}" destId="{40453781-DACE-4118-ADC4-2B966E9374E5}" srcOrd="3" destOrd="0" presId="urn:microsoft.com/office/officeart/2005/8/layout/vList4"/>
    <dgm:cxn modelId="{D2619F68-F71E-4DB7-B3E4-C0C69EDAA7FE}" type="presParOf" srcId="{6E1E561E-88C1-49C6-A3F7-DE4B9AD43273}" destId="{536722F8-2BA5-41A1-87DF-BBB1AF7DCA80}" srcOrd="4" destOrd="0" presId="urn:microsoft.com/office/officeart/2005/8/layout/vList4"/>
    <dgm:cxn modelId="{AFABECF8-EB39-4A9E-BB52-4A457A2CDD0A}" type="presParOf" srcId="{536722F8-2BA5-41A1-87DF-BBB1AF7DCA80}" destId="{F36F4ED1-B414-46B8-A8C5-C0FB11F5CFBC}" srcOrd="0" destOrd="0" presId="urn:microsoft.com/office/officeart/2005/8/layout/vList4"/>
    <dgm:cxn modelId="{F3A74078-C1EC-4C6F-B1ED-565182E04087}" type="presParOf" srcId="{536722F8-2BA5-41A1-87DF-BBB1AF7DCA80}" destId="{7C6A764B-C67C-494C-B90E-7B3C3DDE54A4}" srcOrd="1" destOrd="0" presId="urn:microsoft.com/office/officeart/2005/8/layout/vList4"/>
    <dgm:cxn modelId="{1973AF99-46F9-4317-B911-25815C189087}" type="presParOf" srcId="{536722F8-2BA5-41A1-87DF-BBB1AF7DCA80}" destId="{0E12AD21-08CC-4736-A269-DD5234F9D874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4FC4CB6-0791-48D3-B2C5-2E99B8AFCFF7}">
      <dsp:nvSpPr>
        <dsp:cNvPr id="0" name=""/>
        <dsp:cNvSpPr/>
      </dsp:nvSpPr>
      <dsp:spPr>
        <a:xfrm>
          <a:off x="0" y="0"/>
          <a:ext cx="7633494" cy="135954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2200" kern="1200" dirty="0"/>
            <a:t>Juan Carlos Reyes Melo</a:t>
          </a:r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" sz="1700" kern="1200" dirty="0"/>
            <a:t>Scrum Master</a:t>
          </a:r>
          <a:endParaRPr lang="es-CL" sz="1700" kern="1200" dirty="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700" kern="1200" dirty="0"/>
            <a:t>Encargado de la correcta introducción de Scrum</a:t>
          </a:r>
          <a:endParaRPr lang="es-CL" sz="1700" kern="1200" dirty="0"/>
        </a:p>
      </dsp:txBody>
      <dsp:txXfrm>
        <a:off x="1662653" y="0"/>
        <a:ext cx="5970840" cy="1359548"/>
      </dsp:txXfrm>
    </dsp:sp>
    <dsp:sp modelId="{9A7E2690-DE9C-4572-9BE5-B8C9A3B8BBB3}">
      <dsp:nvSpPr>
        <dsp:cNvPr id="0" name=""/>
        <dsp:cNvSpPr/>
      </dsp:nvSpPr>
      <dsp:spPr>
        <a:xfrm>
          <a:off x="135954" y="135954"/>
          <a:ext cx="1526698" cy="108763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20000" b="-20000"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39AFE128-ACF6-44CA-B18B-64F5782CF210}">
      <dsp:nvSpPr>
        <dsp:cNvPr id="0" name=""/>
        <dsp:cNvSpPr/>
      </dsp:nvSpPr>
      <dsp:spPr>
        <a:xfrm>
          <a:off x="0" y="1495502"/>
          <a:ext cx="7633494" cy="135954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200" kern="1200" dirty="0"/>
            <a:t>Vicente José Ansaldi Gutiérrez</a:t>
          </a:r>
          <a:endParaRPr lang="es-CL" sz="2200" kern="1200" dirty="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ES" sz="1700" kern="1200" dirty="0"/>
            <a:t>Arquitecto de Software</a:t>
          </a:r>
          <a:endParaRPr lang="es-CL" sz="1700" kern="1200" dirty="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700" kern="1200" dirty="0"/>
            <a:t>Selección de tecnologías e incorporación de estas</a:t>
          </a:r>
          <a:endParaRPr lang="es-CL" sz="1700" kern="1200" dirty="0"/>
        </a:p>
      </dsp:txBody>
      <dsp:txXfrm>
        <a:off x="1662653" y="1495502"/>
        <a:ext cx="5970840" cy="1359548"/>
      </dsp:txXfrm>
    </dsp:sp>
    <dsp:sp modelId="{3F97C059-D720-4D48-953F-B84D04D0BF79}">
      <dsp:nvSpPr>
        <dsp:cNvPr id="0" name=""/>
        <dsp:cNvSpPr/>
      </dsp:nvSpPr>
      <dsp:spPr>
        <a:xfrm>
          <a:off x="135954" y="1631457"/>
          <a:ext cx="1526698" cy="108763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t="-20000" b="-20000"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  <dsp:sp modelId="{F36F4ED1-B414-46B8-A8C5-C0FB11F5CFBC}">
      <dsp:nvSpPr>
        <dsp:cNvPr id="0" name=""/>
        <dsp:cNvSpPr/>
      </dsp:nvSpPr>
      <dsp:spPr>
        <a:xfrm>
          <a:off x="0" y="2991005"/>
          <a:ext cx="7633494" cy="1359548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5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5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5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t" anchorCtr="0">
          <a:noAutofit/>
        </a:bodyPr>
        <a:lstStyle/>
        <a:p>
          <a:pPr marL="0" lvl="0" indent="0" algn="l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CL" sz="2200" kern="1200"/>
            <a:t>Lesther Alberto Araya Valdivia</a:t>
          </a:r>
          <a:endParaRPr lang="es-CL" sz="2200" kern="1200" dirty="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CL" sz="1700" kern="1200" dirty="0"/>
            <a:t>Ingenieros de Machine </a:t>
          </a:r>
          <a:r>
            <a:rPr lang="es-CL" sz="1700" kern="1200" dirty="0" err="1"/>
            <a:t>Learning</a:t>
          </a:r>
          <a:endParaRPr lang="es-CL" sz="1700" kern="1200" dirty="0"/>
        </a:p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MX" sz="1700" kern="1200" dirty="0"/>
            <a:t>Diseñar, construir y desplegar modelos de aprendizaje </a:t>
          </a:r>
          <a:r>
            <a:rPr lang="es-MX" sz="1700" kern="1200" dirty="0" err="1"/>
            <a:t>automatico</a:t>
          </a:r>
          <a:endParaRPr lang="es-CL" sz="1700" kern="1200" dirty="0"/>
        </a:p>
      </dsp:txBody>
      <dsp:txXfrm>
        <a:off x="1662653" y="2991005"/>
        <a:ext cx="5970840" cy="1359548"/>
      </dsp:txXfrm>
    </dsp:sp>
    <dsp:sp modelId="{7C6A764B-C67C-494C-B90E-7B3C3DDE54A4}">
      <dsp:nvSpPr>
        <dsp:cNvPr id="0" name=""/>
        <dsp:cNvSpPr/>
      </dsp:nvSpPr>
      <dsp:spPr>
        <a:xfrm>
          <a:off x="135954" y="3126960"/>
          <a:ext cx="1526698" cy="108763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t="-20000" b="-20000"/>
          </a:stretch>
        </a:blipFill>
        <a:ln>
          <a:noFill/>
        </a:ln>
        <a:effectLst>
          <a:outerShdw blurRad="57150" dist="19050" dir="5400000" algn="ctr" rotWithShape="0">
            <a:srgbClr val="000000">
              <a:alpha val="63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3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#1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164A916-2C2E-265E-D1A7-F8BA8BAA56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E2B618F-FEF4-D0FB-4038-D93A262EA3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5443312A-AEFB-3177-E12B-386C4F429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A47C3C00-ADC0-ABB2-EF55-4D170DA0D7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1B0C28A-E393-39C0-65D4-7252445FA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053887044"/>
      </p:ext>
    </p:extLst>
  </p:cSld>
  <p:clrMapOvr>
    <a:masterClrMapping/>
  </p:clrMapOvr>
  <p:transition spd="slow">
    <p:wip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1A7B6CD-9456-B138-ECD2-C8D7A666C4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874D6B0-7AF3-685F-CEAB-5529E05E8C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AF52F25-C2C6-7F7B-276E-37CD648AA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3947A73-C5CF-9FE2-967B-D4D866F9DD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0ECAE93-9144-BF33-1401-DF6FFF6FAB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623929711"/>
      </p:ext>
    </p:extLst>
  </p:cSld>
  <p:clrMapOvr>
    <a:masterClrMapping/>
  </p:clrMapOvr>
  <p:transition spd="slow">
    <p:wip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FB56A89-B019-96BD-5BAD-62AE0C3AC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22B60B4-76B8-D88B-5674-F86DC36707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D9DE800A-255F-4AE1-5E56-606A61B379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8DFC92BF-9B9F-10CC-5BC8-BAC85DDB9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3372357-062E-F22F-4B80-ED779DDD11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91426009"/>
      </p:ext>
    </p:extLst>
  </p:cSld>
  <p:clrMapOvr>
    <a:masterClrMapping/>
  </p:clrMapOvr>
  <p:transition spd="slow">
    <p:wip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8399D17-3BAA-B1F3-D450-274A02753D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660F58E-6555-CC20-7FB5-60DB4AEFC8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42CAA47F-EB54-628D-A823-3A00718BE8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A890AFF8-D9BE-4C13-0483-E843C51CA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2ECF5C03-2790-90EB-0D65-AA62820C0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7491F526-CDE5-755B-4A3F-50F807763A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352846858"/>
      </p:ext>
    </p:extLst>
  </p:cSld>
  <p:clrMapOvr>
    <a:masterClrMapping/>
  </p:clrMapOvr>
  <p:transition spd="slow">
    <p:wip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C9CF108-6B99-8CCE-C8FD-D995F9965A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B0B922A-6156-2235-AA95-A8B8C02B33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9F40D8F2-325E-B2D8-EDDA-56DE9D1F2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C58884F1-5F33-E36A-DEE4-9693FBE7DB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5DF08E0-1508-F512-337D-F5C8A5F0C35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7" name="Marcador de fecha 6">
            <a:extLst>
              <a:ext uri="{FF2B5EF4-FFF2-40B4-BE49-F238E27FC236}">
                <a16:creationId xmlns:a16="http://schemas.microsoft.com/office/drawing/2014/main" id="{A553ED18-81E3-9782-22CD-40D6A19098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8" name="Marcador de pie de página 7">
            <a:extLst>
              <a:ext uri="{FF2B5EF4-FFF2-40B4-BE49-F238E27FC236}">
                <a16:creationId xmlns:a16="http://schemas.microsoft.com/office/drawing/2014/main" id="{F78D2E67-9BFA-E800-3A7E-8900D96D4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056AEF8A-22F0-544A-1B96-40996F1A6F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263044769"/>
      </p:ext>
    </p:extLst>
  </p:cSld>
  <p:clrMapOvr>
    <a:masterClrMapping/>
  </p:clrMapOvr>
  <p:transition spd="slow">
    <p:wip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980A5D8-AC89-1289-2F04-0814CB9B1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A703452B-17EB-394F-735B-5A921A58A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60A54D4-94C4-7743-43A2-1A52792A4A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69886359-BA16-2E60-D21D-C9E1AD88B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3802827478"/>
      </p:ext>
    </p:extLst>
  </p:cSld>
  <p:clrMapOvr>
    <a:masterClrMapping/>
  </p:clrMapOvr>
  <p:transition spd="slow">
    <p:wip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fecha 1">
            <a:extLst>
              <a:ext uri="{FF2B5EF4-FFF2-40B4-BE49-F238E27FC236}">
                <a16:creationId xmlns:a16="http://schemas.microsoft.com/office/drawing/2014/main" id="{E9082406-6A57-2057-24EC-1A6C257A2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D4737A7-3975-9225-3AAC-282F9F4567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758996F-BDE4-86FA-BD9D-DFCAB9143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53576406"/>
      </p:ext>
    </p:extLst>
  </p:cSld>
  <p:clrMapOvr>
    <a:masterClrMapping/>
  </p:clrMapOvr>
  <p:transition spd="slow">
    <p:wip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45B1326-48D6-CCCF-9030-3AC9A67CD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704BD84-4F55-3649-4756-7A4CE760D3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F111F47-438E-ECB7-5D1F-CB07E54FD6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201E9545-DD0E-6A0B-2B88-934785A7E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23CD897-12AF-A56D-CB14-1B41012DE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29257B85-275B-F539-96E6-BF6C3F487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153514770"/>
      </p:ext>
    </p:extLst>
  </p:cSld>
  <p:clrMapOvr>
    <a:masterClrMapping/>
  </p:clrMapOvr>
  <p:transition spd="slow">
    <p:wip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45BFE8-4F8E-9F77-F45C-B4D870295B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23CB21F6-368F-6F50-5C0D-6BE2DDE1E4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L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012122B-29C5-7F4E-7EFB-41EF277FCE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617332B2-B78B-790B-184B-C7299CC48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761CBB3B-17B4-113F-AA5B-E804167ADC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1C8A1FFA-A66B-F32D-E3CE-2337B07F5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4236603574"/>
      </p:ext>
    </p:extLst>
  </p:cSld>
  <p:clrMapOvr>
    <a:masterClrMapping/>
  </p:clrMapOvr>
  <p:transition spd="slow">
    <p:wip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CA4049-BEF3-0AFD-A19B-45FF1D8206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44FD3394-1BB2-4A78-E0C2-B81E3B0A0C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FB1E014-02B1-2EA8-C324-69C0657119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15D9E46F-A5FD-E000-2817-06E54BC72C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B5F151D9-94A1-87E1-B673-4D3D316B90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085804739"/>
      </p:ext>
    </p:extLst>
  </p:cSld>
  <p:clrMapOvr>
    <a:masterClrMapping/>
  </p:clrMapOvr>
  <p:transition spd="slow">
    <p:wip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6B72A6E5-A0E4-586A-8BAE-08F39AC9E9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0C8C75B9-2362-53B4-3282-7D8A22F061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B97AA35-3C24-08C9-2992-BE0C70C5DA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E1704C8-43E3-4F4F-BE90-356A640D5754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59103D78-DCDD-276E-7575-A1992D704E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9B60B15A-BAF6-5EBF-7331-0AFFFFABED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1223337686"/>
      </p:ext>
    </p:extLst>
  </p:cSld>
  <p:clrMapOvr>
    <a:masterClrMapping/>
  </p:clrMapOvr>
  <p:transition spd="slow">
    <p:wip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48B6D4E-E3C2-3792-E3C4-2CBC2E052D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s-CL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882E89E-FB21-817B-8050-7AD81F9CED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s-CL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A3A1C48C-F8B6-B30A-3815-D7ADD14FF2F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1704C8-43E3-4F4F-BE90-356A640D5754}" type="datetimeFigureOut">
              <a:rPr lang="es-CL" smtClean="0"/>
              <a:t>02-09-2026</a:t>
            </a:fld>
            <a:endParaRPr lang="es-CL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C909214F-88E2-1045-9D0B-C2ECD481C3D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CL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D38CA17-DD6E-139F-6ED9-FAD83BB727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B2AF52-67EF-4B3A-939D-BC0B060810A1}" type="slidenum">
              <a:rPr lang="es-CL" smtClean="0"/>
              <a:t>‹Nº›</a:t>
            </a:fld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27567036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 spd="slow">
    <p:wipe/>
  </p:transition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2707792"/>
            <a:ext cx="12191999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PROYECTO “OJO DE HUASO”</a:t>
            </a:r>
          </a:p>
          <a:p>
            <a:pPr algn="ctr"/>
            <a:r>
              <a:rPr lang="es-MX" sz="2400" dirty="0"/>
              <a:t>PRESENTACIÓN FINAL CAPSTONE</a:t>
            </a:r>
            <a:endParaRPr lang="es-CL" sz="2400" dirty="0"/>
          </a:p>
        </p:txBody>
      </p:sp>
    </p:spTree>
    <p:extLst>
      <p:ext uri="{BB962C8B-B14F-4D97-AF65-F5344CB8AC3E}">
        <p14:creationId xmlns:p14="http://schemas.microsoft.com/office/powerpoint/2010/main" val="2391963198"/>
      </p:ext>
    </p:extLst>
  </p:cSld>
  <p:clrMapOvr>
    <a:masterClrMapping/>
  </p:clrMapOvr>
  <p:transition spd="slow">
    <p:wip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5" name="Diagrama 4">
            <a:extLst>
              <a:ext uri="{FF2B5EF4-FFF2-40B4-BE49-F238E27FC236}">
                <a16:creationId xmlns:a16="http://schemas.microsoft.com/office/drawing/2014/main" id="{CD98BAAD-E67E-3FB9-220F-BD3AA3645FA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44014120"/>
              </p:ext>
            </p:extLst>
          </p:nvPr>
        </p:nvGraphicFramePr>
        <p:xfrm>
          <a:off x="4121026" y="1710819"/>
          <a:ext cx="7633494" cy="43505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“OJO DE HUASO”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238327" y="3058616"/>
            <a:ext cx="360896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INTEGRANTES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6815989"/>
      </p:ext>
    </p:extLst>
  </p:cSld>
  <p:clrMapOvr>
    <a:masterClrMapping/>
  </p:clrMapOvr>
  <p:transition spd="slow">
    <p:wip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“OJO DE HUASO”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130849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DESCRIPCIÓN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5CB288BD-84B1-DF16-6004-32D5F8A61FF7}"/>
              </a:ext>
            </a:extLst>
          </p:cNvPr>
          <p:cNvSpPr/>
          <p:nvPr/>
        </p:nvSpPr>
        <p:spPr>
          <a:xfrm>
            <a:off x="714909" y="2169769"/>
            <a:ext cx="4348705" cy="4092601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 dirty="0"/>
              <a:t>Problema o dolor</a:t>
            </a:r>
          </a:p>
          <a:p>
            <a:pPr lvl="0" algn="ctr"/>
            <a:endParaRPr lang="es-MX" u="sng" dirty="0"/>
          </a:p>
          <a:p>
            <a:pPr algn="just"/>
            <a:r>
              <a:rPr lang="es-CL" dirty="0"/>
              <a:t>La jura en el Rodeo Chileno requiere que el jurado observe y evalúe acciones deportivas que se desarrollan en pocos segundos y que involucran movimientos simultáneos del caballo y del novillo, puntos de contacto, posiciones de los animales y diferentes condiciones que deben ser interpretadas de acuerdo con el reglamento vigente.</a:t>
            </a:r>
            <a:endParaRPr lang="es-CL" sz="1800" dirty="0"/>
          </a:p>
          <a:p>
            <a:pPr lvl="0" algn="ctr"/>
            <a:endParaRPr lang="es-CL" sz="1800" u="sng" dirty="0"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DDC84C5C-77A0-B2A2-F0BB-8A7713B865EA}"/>
              </a:ext>
            </a:extLst>
          </p:cNvPr>
          <p:cNvSpPr/>
          <p:nvPr/>
        </p:nvSpPr>
        <p:spPr>
          <a:xfrm>
            <a:off x="6912079" y="2177325"/>
            <a:ext cx="4348705" cy="4092601"/>
          </a:xfrm>
          <a:prstGeom prst="roundRect">
            <a:avLst>
              <a:gd name="adj" fmla="val 10901"/>
            </a:avLst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 anchorCtr="0"/>
          <a:lstStyle/>
          <a:p>
            <a:pPr lvl="0" algn="ctr"/>
            <a:r>
              <a:rPr lang="es-MX" sz="2800" u="sng" dirty="0"/>
              <a:t>Propuesta de solución</a:t>
            </a:r>
          </a:p>
          <a:p>
            <a:pPr lvl="0" algn="ctr"/>
            <a:endParaRPr lang="es-MX" u="sng" dirty="0"/>
          </a:p>
          <a:p>
            <a:pPr algn="just"/>
            <a:r>
              <a:rPr lang="es-CL" dirty="0"/>
              <a:t>Se propone desarrollar </a:t>
            </a:r>
            <a:r>
              <a:rPr lang="es-CL" b="1" dirty="0"/>
              <a:t>Ojo de Huaso</a:t>
            </a:r>
            <a:r>
              <a:rPr lang="es-CL" dirty="0"/>
              <a:t>, un prototipo de sistema inteligente de apoyo a la jura del Rodeo Chileno basado en procesamiento de video, visión computacional e inteligencia artificial.</a:t>
            </a:r>
          </a:p>
          <a:p>
            <a:pPr lvl="0" algn="just"/>
            <a:endParaRPr lang="es-CL" sz="1800" dirty="0"/>
          </a:p>
          <a:p>
            <a:pPr lvl="0" algn="just"/>
            <a:endParaRPr lang="es-CL" sz="1800" dirty="0"/>
          </a:p>
        </p:txBody>
      </p:sp>
      <p:sp>
        <p:nvSpPr>
          <p:cNvPr id="8" name="Flecha: a la derecha 7">
            <a:extLst>
              <a:ext uri="{FF2B5EF4-FFF2-40B4-BE49-F238E27FC236}">
                <a16:creationId xmlns:a16="http://schemas.microsoft.com/office/drawing/2014/main" id="{E4B09E7F-FBE6-31BF-0C0F-DD32DBE05724}"/>
              </a:ext>
            </a:extLst>
          </p:cNvPr>
          <p:cNvSpPr/>
          <p:nvPr/>
        </p:nvSpPr>
        <p:spPr>
          <a:xfrm>
            <a:off x="5456903" y="3736258"/>
            <a:ext cx="1140542" cy="7570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CL"/>
          </a:p>
        </p:txBody>
      </p:sp>
    </p:spTree>
    <p:extLst>
      <p:ext uri="{BB962C8B-B14F-4D97-AF65-F5344CB8AC3E}">
        <p14:creationId xmlns:p14="http://schemas.microsoft.com/office/powerpoint/2010/main" val="775730755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8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“OJO DE HUASO”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384304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Objetivo General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uadroTexto 1">
            <a:extLst>
              <a:ext uri="{FF2B5EF4-FFF2-40B4-BE49-F238E27FC236}">
                <a16:creationId xmlns:a16="http://schemas.microsoft.com/office/drawing/2014/main" id="{733B57D9-BF13-9372-D021-14655CF00C4C}"/>
              </a:ext>
            </a:extLst>
          </p:cNvPr>
          <p:cNvSpPr txBox="1"/>
          <p:nvPr/>
        </p:nvSpPr>
        <p:spPr>
          <a:xfrm>
            <a:off x="1" y="4082446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Objetivos Específicos</a:t>
            </a:r>
            <a:endParaRPr lang="es-CL" dirty="0"/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08D4A171-2FE3-5173-34E6-9DC3D74E7376}"/>
              </a:ext>
            </a:extLst>
          </p:cNvPr>
          <p:cNvSpPr/>
          <p:nvPr/>
        </p:nvSpPr>
        <p:spPr>
          <a:xfrm>
            <a:off x="614515" y="2040571"/>
            <a:ext cx="10962967" cy="1575221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just"/>
            <a:r>
              <a:rPr lang="es-CL" dirty="0"/>
              <a:t>Poder reconocer las diversas acciones realizadas por los jinetes y calificar el puntaje por cada una de estas, logrando de esta forma obtener un puntaje transparente, en base a los ejemplos entregados por el </a:t>
            </a:r>
            <a:r>
              <a:rPr lang="es-CL" dirty="0" err="1"/>
              <a:t>Product</a:t>
            </a:r>
            <a:r>
              <a:rPr lang="es-CL" dirty="0"/>
              <a:t> Owner, además de poder justificar la pérdida de puntos por cada falta realizada a lo largo del rodeo.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7E63425F-86F4-531E-E0F5-7A349604A51E}"/>
              </a:ext>
            </a:extLst>
          </p:cNvPr>
          <p:cNvSpPr/>
          <p:nvPr/>
        </p:nvSpPr>
        <p:spPr>
          <a:xfrm>
            <a:off x="614516" y="4728777"/>
            <a:ext cx="10962967" cy="1575221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numCol="2" rtlCol="0" anchor="ctr"/>
          <a:lstStyle/>
          <a:p>
            <a:r>
              <a:rPr lang="es-CL" sz="1400" dirty="0"/>
              <a:t>• Disminuir la incertidumbre ante momentos de difícil apreciación, entregando un apoyo  mediante una recomendación automática basada en el análisis del video.</a:t>
            </a:r>
            <a:br>
              <a:rPr lang="es-CL" sz="1400" dirty="0"/>
            </a:br>
            <a:r>
              <a:rPr lang="es-CL" sz="1400" dirty="0"/>
              <a:t>• Mejorar la fundamentación de la evaluación de un momento mediante la identificación de la situación observable, las faltas priorizadas y el efecto reglamentario correspondiente.</a:t>
            </a:r>
            <a:br>
              <a:rPr lang="es-CL" sz="1400" dirty="0"/>
            </a:br>
            <a:r>
              <a:rPr lang="es-CL" sz="1400" dirty="0"/>
              <a:t>• Aumentar la transparencia de la recomendación informando las alternativas evaluadas por la inteligencia artificial y sus respectivos niveles de confianza.</a:t>
            </a:r>
            <a:br>
              <a:rPr lang="es-CL" sz="1400" dirty="0"/>
            </a:br>
            <a:r>
              <a:rPr lang="es-CL" sz="1400" dirty="0"/>
              <a:t>• Facilitar la revisión y trazabilidad de los análisis realizados mediante el almacenamiento del resultado, su justificación y la generación de reportes descargables.</a:t>
            </a:r>
          </a:p>
        </p:txBody>
      </p:sp>
    </p:spTree>
    <p:extLst>
      <p:ext uri="{BB962C8B-B14F-4D97-AF65-F5344CB8AC3E}">
        <p14:creationId xmlns:p14="http://schemas.microsoft.com/office/powerpoint/2010/main" val="2717669782"/>
      </p:ext>
    </p:extLst>
  </p:cSld>
  <p:clrMapOvr>
    <a:masterClrMapping/>
  </p:clrMapOvr>
  <p:transition spd="slow">
    <p:wip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“OJO DE HUASO”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Alcance y limitaciones del proyecto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CuadroTexto 11">
            <a:extLst>
              <a:ext uri="{FF2B5EF4-FFF2-40B4-BE49-F238E27FC236}">
                <a16:creationId xmlns:a16="http://schemas.microsoft.com/office/drawing/2014/main" id="{CA89526D-4744-AF8B-1556-A30F0AD04976}"/>
              </a:ext>
            </a:extLst>
          </p:cNvPr>
          <p:cNvSpPr txBox="1"/>
          <p:nvPr/>
        </p:nvSpPr>
        <p:spPr>
          <a:xfrm>
            <a:off x="953147" y="2330816"/>
            <a:ext cx="10903056" cy="11182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800"/>
              </a:spcAft>
              <a:buNone/>
            </a:pPr>
            <a:r>
              <a:rPr lang="es-CL" sz="12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El proyecto </a:t>
            </a:r>
            <a:r>
              <a:rPr lang="es-CL" sz="1200" b="1" kern="100" dirty="0">
                <a:ea typeface="Calibri" panose="020F0502020204030204" pitchFamily="34" charset="0"/>
                <a:cs typeface="Times New Roman" panose="02020603050405020304" pitchFamily="18" charset="0"/>
              </a:rPr>
              <a:t>Ojo de Huaso</a:t>
            </a:r>
            <a:r>
              <a:rPr lang="es-CL" sz="12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 contempla el desarrollo de una solución web basada en Inteligencia Artificial orientada a apoyar el proceso de evaluación de una corrida de rodeo chileno. En su primera versión, el sistema permitirá </a:t>
            </a:r>
            <a:r>
              <a:rPr lang="es-CL" sz="1200" b="1" kern="100" dirty="0">
                <a:ea typeface="Calibri" panose="020F0502020204030204" pitchFamily="34" charset="0"/>
                <a:cs typeface="Times New Roman" panose="02020603050405020304" pitchFamily="18" charset="0"/>
              </a:rPr>
              <a:t>cargar o seleccionar un video previamente grabado y analizar el segmento correspondiente a una corrida</a:t>
            </a:r>
            <a:r>
              <a:rPr lang="es-CL" sz="12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, identificando elementos relevantes de la atajada para generar una recomendación que sirva como apoyo al jurado.</a:t>
            </a:r>
          </a:p>
          <a:p>
            <a:pPr>
              <a:lnSpc>
                <a:spcPct val="100000"/>
              </a:lnSpc>
              <a:spcAft>
                <a:spcPts val="800"/>
              </a:spcAft>
              <a:buNone/>
            </a:pPr>
            <a:r>
              <a:rPr lang="es-CL" sz="12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El sistema permitirá gestionar la información necesaria para contextualizar cada análisis, procesar el segmento de video mediante un modelo de Inteligencia Artificial y presentar los resultados obtenidos de manera clara para su posterior revisión.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2589B798-8809-49AC-B503-12BF663DC3C9}"/>
              </a:ext>
            </a:extLst>
          </p:cNvPr>
          <p:cNvSpPr txBox="1"/>
          <p:nvPr/>
        </p:nvSpPr>
        <p:spPr>
          <a:xfrm>
            <a:off x="948944" y="3572744"/>
            <a:ext cx="10903055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  <a:spcAft>
                <a:spcPts val="800"/>
              </a:spcAft>
              <a:buNone/>
            </a:pPr>
            <a:r>
              <a:rPr lang="es-CL" sz="1200" b="1" kern="100" dirty="0">
                <a:ea typeface="Calibri" panose="020F0502020204030204" pitchFamily="34" charset="0"/>
                <a:cs typeface="Times New Roman" panose="02020603050405020304" pitchFamily="18" charset="0"/>
              </a:rPr>
              <a:t>Limitaciones del proyecto</a:t>
            </a:r>
            <a:endParaRPr lang="es-CL" sz="1200" kern="100" dirty="0"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0000"/>
              </a:lnSpc>
              <a:spcAft>
                <a:spcPts val="800"/>
              </a:spcAft>
              <a:buNone/>
            </a:pPr>
            <a:r>
              <a:rPr lang="es-CL" sz="12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La primera versión de </a:t>
            </a:r>
            <a:r>
              <a:rPr lang="es-CL" sz="1200" b="1" kern="100" dirty="0">
                <a:ea typeface="Calibri" panose="020F0502020204030204" pitchFamily="34" charset="0"/>
                <a:cs typeface="Times New Roman" panose="02020603050405020304" pitchFamily="18" charset="0"/>
              </a:rPr>
              <a:t>Ojo de Huaso</a:t>
            </a:r>
            <a:r>
              <a:rPr lang="es-CL" sz="12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 tendrá las siguientes limitaciones:</a:t>
            </a:r>
          </a:p>
          <a:p>
            <a:pPr marL="342900" lvl="0" indent="-342900">
              <a:lnSpc>
                <a:spcPct val="10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s-CL" sz="12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El sistema </a:t>
            </a:r>
            <a:r>
              <a:rPr lang="es-CL" sz="1200" b="1" kern="100" dirty="0">
                <a:ea typeface="Calibri" panose="020F0502020204030204" pitchFamily="34" charset="0"/>
                <a:cs typeface="Times New Roman" panose="02020603050405020304" pitchFamily="18" charset="0"/>
              </a:rPr>
              <a:t>no realizará captura de video en tiempo real</a:t>
            </a:r>
            <a:r>
              <a:rPr lang="es-CL" sz="12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 ni tendrá conexión directa con cámaras instaladas en la medialuna. </a:t>
            </a:r>
          </a:p>
          <a:p>
            <a:pPr marL="342900" lvl="0" indent="-342900">
              <a:lnSpc>
                <a:spcPct val="10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s-CL" sz="12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No se contempla la administración, configuración ni almacenamiento proveniente de sistemas de cámaras. </a:t>
            </a:r>
          </a:p>
          <a:p>
            <a:pPr marL="342900" lvl="0" indent="-342900">
              <a:lnSpc>
                <a:spcPct val="10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s-CL" sz="12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El análisis se realizará exclusivamente sobre </a:t>
            </a:r>
            <a:r>
              <a:rPr lang="es-CL" sz="1200" b="1" kern="100" dirty="0">
                <a:ea typeface="Calibri" panose="020F0502020204030204" pitchFamily="34" charset="0"/>
                <a:cs typeface="Times New Roman" panose="02020603050405020304" pitchFamily="18" charset="0"/>
              </a:rPr>
              <a:t>videos previamente grabados y proporcionados al sistema</a:t>
            </a:r>
            <a:r>
              <a:rPr lang="es-CL" sz="12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. </a:t>
            </a:r>
          </a:p>
          <a:p>
            <a:pPr marL="342900" lvl="0" indent="-342900">
              <a:lnSpc>
                <a:spcPct val="10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s-CL" sz="12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El alcance se limita al análisis de </a:t>
            </a:r>
            <a:r>
              <a:rPr lang="es-CL" sz="1200" b="1" kern="100" dirty="0">
                <a:ea typeface="Calibri" panose="020F0502020204030204" pitchFamily="34" charset="0"/>
                <a:cs typeface="Times New Roman" panose="02020603050405020304" pitchFamily="18" charset="0"/>
              </a:rPr>
              <a:t>una corrida o segmento específico de video</a:t>
            </a:r>
            <a:r>
              <a:rPr lang="es-CL" sz="12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, y no al procesamiento automático de un rodeo completo. </a:t>
            </a:r>
          </a:p>
          <a:p>
            <a:pPr marL="342900" lvl="0" indent="-342900">
              <a:lnSpc>
                <a:spcPct val="10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s-CL" sz="12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La precisión del análisis dependerá de factores como la </a:t>
            </a:r>
            <a:r>
              <a:rPr lang="es-CL" sz="1200" b="1" kern="100" dirty="0">
                <a:ea typeface="Calibri" panose="020F0502020204030204" pitchFamily="34" charset="0"/>
                <a:cs typeface="Times New Roman" panose="02020603050405020304" pitchFamily="18" charset="0"/>
              </a:rPr>
              <a:t>calidad, resolución, iluminación, ángulo de grabación, visibilidad de los participantes y claridad del momento de contacto</a:t>
            </a:r>
            <a:r>
              <a:rPr lang="es-CL" sz="12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. </a:t>
            </a:r>
          </a:p>
          <a:p>
            <a:pPr marL="342900" lvl="0" indent="-342900">
              <a:lnSpc>
                <a:spcPct val="10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s-CL" sz="12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La IA entregará una </a:t>
            </a:r>
            <a:r>
              <a:rPr lang="es-CL" sz="1200" b="1" kern="100" dirty="0">
                <a:ea typeface="Calibri" panose="020F0502020204030204" pitchFamily="34" charset="0"/>
                <a:cs typeface="Times New Roman" panose="02020603050405020304" pitchFamily="18" charset="0"/>
              </a:rPr>
              <a:t>recomendación</a:t>
            </a:r>
            <a:r>
              <a:rPr lang="es-CL" sz="12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, por lo que el resultado generado no constituirá automáticamente el puntaje oficial de la corrida. </a:t>
            </a:r>
          </a:p>
          <a:p>
            <a:pPr marL="342900" lvl="0" indent="-342900">
              <a:lnSpc>
                <a:spcPct val="10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s-CL" sz="12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El sistema </a:t>
            </a:r>
            <a:r>
              <a:rPr lang="es-CL" sz="1200" b="1" kern="100" dirty="0">
                <a:ea typeface="Calibri" panose="020F0502020204030204" pitchFamily="34" charset="0"/>
                <a:cs typeface="Times New Roman" panose="02020603050405020304" pitchFamily="18" charset="0"/>
              </a:rPr>
              <a:t>no reemplazará al jurado</a:t>
            </a:r>
            <a:r>
              <a:rPr lang="es-CL" sz="12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 ni tomará la decisión final de evaluación. </a:t>
            </a:r>
          </a:p>
          <a:p>
            <a:pPr marL="342900" lvl="0" indent="-342900">
              <a:lnSpc>
                <a:spcPct val="100000"/>
              </a:lnSpc>
              <a:spcAft>
                <a:spcPts val="800"/>
              </a:spcAft>
              <a:buSzPts val="1000"/>
              <a:buFont typeface="Symbol" panose="05050102010706020507" pitchFamily="18" charset="2"/>
              <a:buChar char=""/>
              <a:tabLst>
                <a:tab pos="457200" algn="l"/>
              </a:tabLst>
            </a:pPr>
            <a:r>
              <a:rPr lang="es-CL" sz="12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Ojo de Huaso funcionará de manera </a:t>
            </a:r>
            <a:r>
              <a:rPr lang="es-CL" sz="1200" b="1" kern="100" dirty="0">
                <a:ea typeface="Calibri" panose="020F0502020204030204" pitchFamily="34" charset="0"/>
                <a:cs typeface="Times New Roman" panose="02020603050405020304" pitchFamily="18" charset="0"/>
              </a:rPr>
              <a:t>independiente de SIPLAN</a:t>
            </a:r>
            <a:r>
              <a:rPr lang="es-CL" sz="1200" kern="100" dirty="0">
                <a:ea typeface="Calibri" panose="020F0502020204030204" pitchFamily="34" charset="0"/>
                <a:cs typeface="Times New Roman" panose="02020603050405020304" pitchFamily="18" charset="0"/>
              </a:rPr>
              <a:t> durante esta versión, por lo que no se contempla integración automática con dicho sistema. </a:t>
            </a:r>
          </a:p>
        </p:txBody>
      </p:sp>
    </p:spTree>
    <p:extLst>
      <p:ext uri="{BB962C8B-B14F-4D97-AF65-F5344CB8AC3E}">
        <p14:creationId xmlns:p14="http://schemas.microsoft.com/office/powerpoint/2010/main" val="3299956469"/>
      </p:ext>
    </p:extLst>
  </p:cSld>
  <p:clrMapOvr>
    <a:masterClrMapping/>
  </p:clrMapOvr>
  <p:transition spd="slow">
    <p:wip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“OJO DE HUASO”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Metodología de trabajo para el desarrollo del proyecto</a:t>
            </a:r>
            <a:endParaRPr lang="es-CL" dirty="0"/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uadroTexto 2">
            <a:extLst>
              <a:ext uri="{FF2B5EF4-FFF2-40B4-BE49-F238E27FC236}">
                <a16:creationId xmlns:a16="http://schemas.microsoft.com/office/drawing/2014/main" id="{E94D8060-6BF5-1DE1-074D-CBA671603E29}"/>
              </a:ext>
            </a:extLst>
          </p:cNvPr>
          <p:cNvSpPr txBox="1"/>
          <p:nvPr/>
        </p:nvSpPr>
        <p:spPr>
          <a:xfrm>
            <a:off x="628853" y="2518739"/>
            <a:ext cx="11284705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CL" sz="1600" dirty="0">
                <a:ea typeface="Calibri" panose="020F0502020204030204" pitchFamily="34" charset="0"/>
                <a:cs typeface="Times New Roman" panose="02020603050405020304" pitchFamily="18" charset="0"/>
              </a:rPr>
              <a:t>Se utilizará una metodología híbrida que combine Scrum para la gestión y desarrollo incremental del software con CRISP-DM para organizar el trabajo asociado a los datos audiovisuales y al modelo de inteligencia artificial.</a:t>
            </a:r>
            <a:br>
              <a:rPr lang="es-CL" sz="1600" dirty="0">
                <a:ea typeface="Calibri" panose="020F0502020204030204" pitchFamily="34" charset="0"/>
                <a:cs typeface="Times New Roman" panose="02020603050405020304" pitchFamily="18" charset="0"/>
              </a:rPr>
            </a:br>
            <a:br>
              <a:rPr lang="es-CL" sz="1600" dirty="0"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s-CL" sz="1600" dirty="0">
                <a:ea typeface="Calibri" panose="020F0502020204030204" pitchFamily="34" charset="0"/>
                <a:cs typeface="Times New Roman" panose="02020603050405020304" pitchFamily="18" charset="0"/>
              </a:rPr>
              <a:t>Durante la Fase 1 (semanas 1 a 4) se consolidarán el problema, el alcance único, los objetivos, las reglas de negocio, las doce historias de usuario V1, los criterios de aceptación, el catálogo inicial de situaciones reglamentarias y el conjunto inicial de momentos de video que se utilizarán para pruebas y entrenamiento.</a:t>
            </a:r>
            <a:br>
              <a:rPr lang="es-CL" sz="1600" dirty="0">
                <a:ea typeface="Calibri" panose="020F0502020204030204" pitchFamily="34" charset="0"/>
                <a:cs typeface="Times New Roman" panose="02020603050405020304" pitchFamily="18" charset="0"/>
              </a:rPr>
            </a:br>
            <a:br>
              <a:rPr lang="es-CL" sz="1600" dirty="0"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s-CL" sz="1600" dirty="0">
                <a:ea typeface="Calibri" panose="020F0502020204030204" pitchFamily="34" charset="0"/>
                <a:cs typeface="Times New Roman" panose="02020603050405020304" pitchFamily="18" charset="0"/>
              </a:rPr>
              <a:t>La Fase 2 se organizará en cinco </a:t>
            </a:r>
            <a:r>
              <a:rPr lang="es-CL" sz="1600" dirty="0" err="1">
                <a:ea typeface="Calibri" panose="020F0502020204030204" pitchFamily="34" charset="0"/>
                <a:cs typeface="Times New Roman" panose="02020603050405020304" pitchFamily="18" charset="0"/>
              </a:rPr>
              <a:t>sprints</a:t>
            </a:r>
            <a:r>
              <a:rPr lang="es-CL" sz="1600" dirty="0">
                <a:ea typeface="Calibri" panose="020F0502020204030204" pitchFamily="34" charset="0"/>
                <a:cs typeface="Times New Roman" panose="02020603050405020304" pitchFamily="18" charset="0"/>
              </a:rPr>
              <a:t> consecutivos de dos semanas:</a:t>
            </a:r>
            <a:br>
              <a:rPr lang="es-CL" sz="1600" dirty="0"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s-CL" sz="1600" dirty="0">
                <a:ea typeface="Calibri" panose="020F0502020204030204" pitchFamily="34" charset="0"/>
                <a:cs typeface="Times New Roman" panose="02020603050405020304" pitchFamily="18" charset="0"/>
              </a:rPr>
              <a:t>• Sprint 1 (semanas 5-6): ingreso de URL, selección del intervalo temporal y validación del video/momento (HU-001 a HU-003).</a:t>
            </a:r>
            <a:br>
              <a:rPr lang="es-CL" sz="1600" dirty="0"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s-CL" sz="1600" dirty="0">
                <a:ea typeface="Calibri" panose="020F0502020204030204" pitchFamily="34" charset="0"/>
                <a:cs typeface="Times New Roman" panose="02020603050405020304" pitchFamily="18" charset="0"/>
              </a:rPr>
              <a:t>• Sprint 2 (semanas 7-8): procesamiento del momento seleccionado e identificación de la situación observable (HU-004 y HU-005).</a:t>
            </a:r>
            <a:br>
              <a:rPr lang="es-CL" sz="1600" dirty="0"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s-CL" sz="1600" dirty="0">
                <a:ea typeface="Calibri" panose="020F0502020204030204" pitchFamily="34" charset="0"/>
                <a:cs typeface="Times New Roman" panose="02020603050405020304" pitchFamily="18" charset="0"/>
              </a:rPr>
              <a:t>• Sprint 3 (semanas 9-10): recomendación de puntaje, detección de faltas priorizadas y aplicación de su efecto reglamentario (HU-006 a HU-008).</a:t>
            </a:r>
            <a:br>
              <a:rPr lang="es-CL" sz="1600" dirty="0"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s-CL" sz="1600" dirty="0">
                <a:ea typeface="Calibri" panose="020F0502020204030204" pitchFamily="34" charset="0"/>
                <a:cs typeface="Times New Roman" panose="02020603050405020304" pitchFamily="18" charset="0"/>
              </a:rPr>
              <a:t>• Sprint 4 (semanas 11-12): niveles de confianza, alternativas evaluadas y justificación de la recomendación (HU-009 y HU-010).</a:t>
            </a:r>
            <a:br>
              <a:rPr lang="es-CL" sz="1600" dirty="0">
                <a:ea typeface="Calibri" panose="020F0502020204030204" pitchFamily="34" charset="0"/>
                <a:cs typeface="Times New Roman" panose="02020603050405020304" pitchFamily="18" charset="0"/>
              </a:rPr>
            </a:br>
            <a:r>
              <a:rPr lang="es-CL" sz="1600" dirty="0">
                <a:ea typeface="Calibri" panose="020F0502020204030204" pitchFamily="34" charset="0"/>
                <a:cs typeface="Times New Roman" panose="02020603050405020304" pitchFamily="18" charset="0"/>
              </a:rPr>
              <a:t>• Sprint 5 (semanas 13-14): almacenamiento, consulta de análisis, generación de reportes PDF/Excel, integración y preparación de la versión entregable (HU-011 y HU-012).</a:t>
            </a:r>
            <a:endParaRPr lang="es-CL" sz="1600" dirty="0"/>
          </a:p>
        </p:txBody>
      </p:sp>
    </p:spTree>
    <p:extLst>
      <p:ext uri="{BB962C8B-B14F-4D97-AF65-F5344CB8AC3E}">
        <p14:creationId xmlns:p14="http://schemas.microsoft.com/office/powerpoint/2010/main" val="3964199749"/>
      </p:ext>
    </p:extLst>
  </p:cSld>
  <p:clrMapOvr>
    <a:masterClrMapping/>
  </p:clrMapOvr>
  <p:transition spd="slow">
    <p:wip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“OJO DE HUASO”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1" y="1155656"/>
            <a:ext cx="12191999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Cronograma o Release Plan para el desarrollo del proyecto</a:t>
            </a:r>
          </a:p>
          <a:p>
            <a:pPr algn="ctr"/>
            <a:endParaRPr lang="es-CL" sz="1000" dirty="0">
              <a:solidFill>
                <a:schemeClr val="bg2">
                  <a:lumMod val="50000"/>
                </a:schemeClr>
              </a:solidFill>
            </a:endParaRP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Imagen 2">
            <a:extLst>
              <a:ext uri="{FF2B5EF4-FFF2-40B4-BE49-F238E27FC236}">
                <a16:creationId xmlns:a16="http://schemas.microsoft.com/office/drawing/2014/main" id="{D03776BA-7160-FBAC-947F-85152EB9F8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6651" y="2048208"/>
            <a:ext cx="9478698" cy="4563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313383"/>
      </p:ext>
    </p:extLst>
  </p:cSld>
  <p:clrMapOvr>
    <a:masterClrMapping/>
  </p:clrMapOvr>
  <p:transition spd="slow">
    <p:wip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“OJO DE HUASO”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Arquitectura del software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Imagen 3">
            <a:extLst>
              <a:ext uri="{FF2B5EF4-FFF2-40B4-BE49-F238E27FC236}">
                <a16:creationId xmlns:a16="http://schemas.microsoft.com/office/drawing/2014/main" id="{C7B163C2-28F3-8149-8870-4AB22EACE1F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7926" y="2078986"/>
            <a:ext cx="7168521" cy="4779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0491460"/>
      </p:ext>
    </p:extLst>
  </p:cSld>
  <p:clrMapOvr>
    <a:masterClrMapping/>
  </p:clrMapOvr>
  <p:transition spd="slow">
    <p:wip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“OJO DE HUASO”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Modelo de datos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2457618"/>
      </p:ext>
    </p:extLst>
  </p:cSld>
  <p:clrMapOvr>
    <a:masterClrMapping/>
  </p:clrMapOvr>
  <p:transition spd="slow">
    <p:wip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54D38248-5D31-85F9-1E0F-4A607BCD5F6A}"/>
              </a:ext>
            </a:extLst>
          </p:cNvPr>
          <p:cNvSpPr txBox="1"/>
          <p:nvPr/>
        </p:nvSpPr>
        <p:spPr>
          <a:xfrm>
            <a:off x="136188" y="368928"/>
            <a:ext cx="12191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dirty="0">
                <a:solidFill>
                  <a:schemeClr val="bg2">
                    <a:lumMod val="50000"/>
                  </a:schemeClr>
                </a:solidFill>
              </a:rPr>
              <a:t>PROYECTO “OJO DE HUASO”</a:t>
            </a:r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3A739E92-330D-944C-ED3E-C7F02FA216B3}"/>
              </a:ext>
            </a:extLst>
          </p:cNvPr>
          <p:cNvSpPr txBox="1"/>
          <p:nvPr/>
        </p:nvSpPr>
        <p:spPr>
          <a:xfrm>
            <a:off x="0" y="1432655"/>
            <a:ext cx="121919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3600" dirty="0"/>
              <a:t>Tecnologías utilizadas</a:t>
            </a:r>
          </a:p>
        </p:txBody>
      </p: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8768D7F4-D478-E252-1441-D950598597DE}"/>
              </a:ext>
            </a:extLst>
          </p:cNvPr>
          <p:cNvCxnSpPr/>
          <p:nvPr/>
        </p:nvCxnSpPr>
        <p:spPr>
          <a:xfrm>
            <a:off x="0" y="758027"/>
            <a:ext cx="4085617" cy="0"/>
          </a:xfrm>
          <a:prstGeom prst="line">
            <a:avLst/>
          </a:prstGeom>
          <a:ln w="15875">
            <a:gradFill flip="none" rotWithShape="1">
              <a:gsLst>
                <a:gs pos="0">
                  <a:schemeClr val="accent1">
                    <a:lumMod val="5000"/>
                    <a:lumOff val="95000"/>
                  </a:schemeClr>
                </a:gs>
                <a:gs pos="74000">
                  <a:schemeClr val="accent1">
                    <a:lumMod val="45000"/>
                    <a:lumOff val="55000"/>
                  </a:schemeClr>
                </a:gs>
                <a:gs pos="83000">
                  <a:schemeClr val="accent1">
                    <a:lumMod val="45000"/>
                    <a:lumOff val="55000"/>
                  </a:schemeClr>
                </a:gs>
                <a:gs pos="100000">
                  <a:schemeClr val="accent1">
                    <a:lumMod val="30000"/>
                    <a:lumOff val="70000"/>
                  </a:schemeClr>
                </a:gs>
              </a:gsLst>
              <a:lin ang="1080000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5368746"/>
      </p:ext>
    </p:extLst>
  </p:cSld>
  <p:clrMapOvr>
    <a:masterClrMapping/>
  </p:clrMapOvr>
  <p:transition spd="slow">
    <p:wip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2707792"/>
            <a:ext cx="12191999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DEMOSTRACIÓN DEL RESULTADO DEL PROYECTO</a:t>
            </a:r>
          </a:p>
          <a:p>
            <a:pPr algn="ctr"/>
            <a:r>
              <a:rPr lang="es-MX" sz="2400" dirty="0">
                <a:solidFill>
                  <a:schemeClr val="bg2">
                    <a:lumMod val="50000"/>
                  </a:schemeClr>
                </a:solidFill>
              </a:rPr>
              <a:t>*Exposición del sistema</a:t>
            </a:r>
            <a:endParaRPr lang="es-CL" sz="2400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9174681"/>
      </p:ext>
    </p:extLst>
  </p:cSld>
  <p:clrMapOvr>
    <a:masterClrMapping/>
  </p:clrMapOvr>
  <p:transition spd="slow">
    <p:wip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1459095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Resultados obtenidos</a:t>
            </a:r>
          </a:p>
        </p:txBody>
      </p:sp>
    </p:spTree>
    <p:extLst>
      <p:ext uri="{BB962C8B-B14F-4D97-AF65-F5344CB8AC3E}">
        <p14:creationId xmlns:p14="http://schemas.microsoft.com/office/powerpoint/2010/main" val="2904893737"/>
      </p:ext>
    </p:extLst>
  </p:cSld>
  <p:clrMapOvr>
    <a:masterClrMapping/>
  </p:clrMapOvr>
  <p:transition spd="slow">
    <p:wip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1" y="1360773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Obstáculos presentados durante el desarrollo</a:t>
            </a:r>
          </a:p>
        </p:txBody>
      </p:sp>
    </p:spTree>
    <p:extLst>
      <p:ext uri="{BB962C8B-B14F-4D97-AF65-F5344CB8AC3E}">
        <p14:creationId xmlns:p14="http://schemas.microsoft.com/office/powerpoint/2010/main" val="1266268508"/>
      </p:ext>
    </p:extLst>
  </p:cSld>
  <p:clrMapOvr>
    <a:masterClrMapping/>
  </p:clrMapOvr>
  <p:transition spd="slow">
    <p:wip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EscuelaIT Duoc UC - Escuela de Informática y Telecomunicaciones Duoc UC - Duoc  UC | LinkedIn">
            <a:extLst>
              <a:ext uri="{FF2B5EF4-FFF2-40B4-BE49-F238E27FC236}">
                <a16:creationId xmlns:a16="http://schemas.microsoft.com/office/drawing/2014/main" id="{DBCE0F62-5978-5D25-A8E3-872B6D0A991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72152" y="207550"/>
            <a:ext cx="3141406" cy="785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CuadroTexto 3">
            <a:extLst>
              <a:ext uri="{FF2B5EF4-FFF2-40B4-BE49-F238E27FC236}">
                <a16:creationId xmlns:a16="http://schemas.microsoft.com/office/drawing/2014/main" id="{E3B5815F-4341-2A3D-A22D-8F6657D201F3}"/>
              </a:ext>
            </a:extLst>
          </p:cNvPr>
          <p:cNvSpPr txBox="1"/>
          <p:nvPr/>
        </p:nvSpPr>
        <p:spPr>
          <a:xfrm>
            <a:off x="0" y="3044279"/>
            <a:ext cx="1219199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4400" dirty="0"/>
              <a:t>PREGUNTAS DE LA COMISIÓN</a:t>
            </a:r>
          </a:p>
        </p:txBody>
      </p:sp>
    </p:spTree>
    <p:extLst>
      <p:ext uri="{BB962C8B-B14F-4D97-AF65-F5344CB8AC3E}">
        <p14:creationId xmlns:p14="http://schemas.microsoft.com/office/powerpoint/2010/main" val="4158079731"/>
      </p:ext>
    </p:extLst>
  </p:cSld>
  <p:clrMapOvr>
    <a:masterClrMapping/>
  </p:clrMapOvr>
  <p:transition spd="slow">
    <p:wipe/>
  </p:transition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381</TotalTime>
  <Words>951</Words>
  <Application>Microsoft Office PowerPoint</Application>
  <PresentationFormat>Panorámica</PresentationFormat>
  <Paragraphs>56</Paragraphs>
  <Slides>14</Slides>
  <Notes>0</Notes>
  <HiddenSlides>5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19" baseType="lpstr">
      <vt:lpstr>Arial</vt:lpstr>
      <vt:lpstr>Calibri</vt:lpstr>
      <vt:lpstr>Calibri Light</vt:lpstr>
      <vt:lpstr>Symbol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Gerardo Galan Cruz</dc:creator>
  <cp:lastModifiedBy>Vicente Ansaldi</cp:lastModifiedBy>
  <cp:revision>9</cp:revision>
  <dcterms:created xsi:type="dcterms:W3CDTF">2023-10-28T21:12:11Z</dcterms:created>
  <dcterms:modified xsi:type="dcterms:W3CDTF">2026-09-02T20:14:16Z</dcterms:modified>
</cp:coreProperties>
</file>