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30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#1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#1" qsCatId="simple" csTypeId="urn:microsoft.com/office/officeart/2005/8/colors/accent5_2#1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CL" dirty="0"/>
            <a:t>Juan Carlos Reyes Melo</a:t>
          </a:r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ES" dirty="0"/>
            <a:t>Scrum Master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ES" dirty="0"/>
            <a:t>Vicente José Ansaldi Gutiérrez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CL"/>
            <a:t>Lesther Alberto Araya Valdivia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/>
            <a:t>Encargado de la correcta introducción de Scrum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CL" dirty="0"/>
            <a:t>Ingenieros de Machine </a:t>
          </a:r>
          <a:r>
            <a:rPr lang="es-CL" dirty="0" err="1"/>
            <a:t>Learning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Diseñar, construir y desplegar modelos de aprendizaje </a:t>
          </a:r>
          <a:r>
            <a:rPr lang="es-MX" dirty="0" err="1"/>
            <a:t>automatico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ES" dirty="0"/>
            <a:t>Arquitecto de Software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Selección de tecnologías e incorporación de estas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/>
          <a:srcRect/>
          <a:stretch>
            <a:fillRect t="-20000" b="-20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>
        <a:blipFill>
          <a:blip xmlns:r="http://schemas.openxmlformats.org/officeDocument/2006/relationships" r:embed="rId2"/>
          <a:srcRect/>
          <a:stretch>
            <a:fillRect t="-20000" b="-20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>
        <a:blipFill>
          <a:blip xmlns:r="http://schemas.openxmlformats.org/officeDocument/2006/relationships" r:embed="rId3"/>
          <a:srcRect/>
          <a:stretch>
            <a:fillRect t="-20000" b="-20000"/>
          </a:stretch>
        </a:blipFill>
      </dgm:spPr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200" kern="1200" dirty="0"/>
            <a:t>Juan Carlos Reyes Melo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700" kern="1200" dirty="0"/>
            <a:t>Scrum Master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Encargado de la correcta introducción de Scrum</a:t>
          </a:r>
          <a:endParaRPr lang="es-CL" sz="1700" kern="1200" dirty="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0000" b="-20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Vicente José Ansaldi Gutiérrez</a:t>
          </a:r>
          <a:endParaRPr lang="es-CL" sz="22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700" kern="1200" dirty="0"/>
            <a:t>Arquitecto de Software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Selección de tecnologías e incorporación de estas</a:t>
          </a:r>
          <a:endParaRPr lang="es-CL" sz="1700" kern="1200" dirty="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20000" b="-20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200" kern="1200"/>
            <a:t>Lesther Alberto Araya Valdivia</a:t>
          </a:r>
          <a:endParaRPr lang="es-CL" sz="22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700" kern="1200" dirty="0"/>
            <a:t>Ingenieros de Machine </a:t>
          </a:r>
          <a:r>
            <a:rPr lang="es-CL" sz="1700" kern="1200" dirty="0" err="1"/>
            <a:t>Learning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Diseñar, construir y desplegar modelos de aprendizaje </a:t>
          </a:r>
          <a:r>
            <a:rPr lang="es-MX" sz="1700" kern="1200" dirty="0" err="1"/>
            <a:t>automatico</a:t>
          </a:r>
          <a:endParaRPr lang="es-CL" sz="1700" kern="1200" dirty="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20000" b="-20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#1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“OJO DE HUASO”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4014120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CL" dirty="0"/>
              <a:t>La jura en el Rodeo Chileno requiere que el jurado observe y evalúe acciones deportivas que se desarrollan en pocos segundos y que involucran movimientos simultáneos del caballo y del novillo, puntos de contacto, posiciones de los animales y diferentes condiciones que deben ser interpretadas de acuerdo con el reglamento vigente.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algn="just"/>
            <a:r>
              <a:rPr lang="es-CL" dirty="0"/>
              <a:t>Se propone desarrollar </a:t>
            </a:r>
            <a:r>
              <a:rPr lang="es-CL" b="1" dirty="0"/>
              <a:t>Ojo de Huaso</a:t>
            </a:r>
            <a:r>
              <a:rPr lang="es-CL" dirty="0"/>
              <a:t>, un prototipo de sistema inteligente de apoyo a la jura del Rodeo Chileno basado en procesamiento de video, visión computacional e inteligencia artificial.</a:t>
            </a:r>
          </a:p>
          <a:p>
            <a:pPr lvl="0" algn="just"/>
            <a:endParaRPr lang="es-CL" sz="1800" dirty="0"/>
          </a:p>
          <a:p>
            <a:pPr lvl="0" algn="just"/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s-CL" dirty="0"/>
              <a:t>Poder reconocer las diversas acciones realizadas por los jinetes y calificar el puntaje por cada una de estas, logrando de esta forma obtener un puntaje transparente, en base a los ejemplos entregados por el </a:t>
            </a:r>
            <a:r>
              <a:rPr lang="es-CL" dirty="0" err="1"/>
              <a:t>Product</a:t>
            </a:r>
            <a:r>
              <a:rPr lang="es-CL" dirty="0"/>
              <a:t> Owner, además de poder justificar la pérdida de puntos por cada falta realizada a lo largo del rodeo.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6" y="472877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numCol="2" rtlCol="0" anchor="ctr"/>
          <a:lstStyle/>
          <a:p>
            <a:r>
              <a:rPr lang="es-CL" sz="1400" dirty="0"/>
              <a:t>• Disminuir la incertidumbre ante momentos de difícil apreciación, entregando un apoyo  mediante una recomendación automática basada en el análisis del video.</a:t>
            </a:r>
            <a:br>
              <a:rPr lang="es-CL" sz="1400" dirty="0"/>
            </a:br>
            <a:r>
              <a:rPr lang="es-CL" sz="1400" dirty="0"/>
              <a:t>• Mejorar la fundamentación de la evaluación de un momento mediante la identificación de la situación observable, las faltas priorizadas y el efecto reglamentario correspondiente.</a:t>
            </a:r>
            <a:br>
              <a:rPr lang="es-CL" sz="1400" dirty="0"/>
            </a:br>
            <a:r>
              <a:rPr lang="es-CL" sz="1400" dirty="0"/>
              <a:t>• Aumentar la transparencia de la recomendación informando las alternativas evaluadas por la inteligencia artificial y sus respectivos niveles de confianza.</a:t>
            </a:r>
            <a:br>
              <a:rPr lang="es-CL" sz="1400" dirty="0"/>
            </a:br>
            <a:r>
              <a:rPr lang="es-CL" sz="1400" dirty="0"/>
              <a:t>• Facilitar la revisión y trazabilidad de los análisis realizados mediante el almacenamiento del resultado, su justificación y la generación de reportes descargables.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A89526D-4744-AF8B-1556-A30F0AD04976}"/>
              </a:ext>
            </a:extLst>
          </p:cNvPr>
          <p:cNvSpPr txBox="1"/>
          <p:nvPr/>
        </p:nvSpPr>
        <p:spPr>
          <a:xfrm>
            <a:off x="953147" y="2330816"/>
            <a:ext cx="10903056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proyecto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Ojo de Huaso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contempla el desarrollo de una solución web basada en Inteligencia Artificial orientada a apoyar el proceso de evaluación de una corrida de rodeo chileno. En su primera versión, el sistema permitirá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cargar o seleccionar un video previamente grabado y analizar el segmento correspondiente a una corrida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, identificando elementos relevantes de la atajada para generar una recomendación que sirva como apoyo al jurado.</a:t>
            </a: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sistema permitirá gestionar la información necesaria para contextualizar cada análisis, procesar el segmento de video mediante un modelo de Inteligencia Artificial y presentar los resultados obtenidos de manera clara para su posterior revisión.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589B798-8809-49AC-B503-12BF663DC3C9}"/>
              </a:ext>
            </a:extLst>
          </p:cNvPr>
          <p:cNvSpPr txBox="1"/>
          <p:nvPr/>
        </p:nvSpPr>
        <p:spPr>
          <a:xfrm>
            <a:off x="948944" y="3572744"/>
            <a:ext cx="1090305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Limitaciones del proyecto</a:t>
            </a:r>
            <a:endParaRPr lang="es-CL" sz="1200" kern="1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La primera versión de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Ojo de Huaso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tendrá las siguientes limitaciones: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sistema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no realizará captura de video en tiempo real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ni tendrá conexión directa con cámaras instaladas en la medialuna.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No se contempla la administración, configuración ni almacenamiento proveniente de sistemas de cámaras.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análisis se realizará exclusivamente sobre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videos previamente grabados y proporcionados al sistema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alcance se limita al análisis de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una corrida o segmento específico de video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, y no al procesamiento automático de un rodeo completo.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La precisión del análisis dependerá de factores como la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calidad, resolución, iluminación, ángulo de grabación, visibilidad de los participantes y claridad del momento de contacto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La IA entregará una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recomendación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, por lo que el resultado generado no constituirá automáticamente el puntaje oficial de la corrida.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sistema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no reemplazará al jurado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ni tomará la decisión final de evaluación.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Ojo de Huaso funcionará de manera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independiente de SIPLAN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durante esta versión, por lo que no se contempla integración automática con dicho sistema. </a:t>
            </a: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E94D8060-6BF5-1DE1-074D-CBA671603E29}"/>
              </a:ext>
            </a:extLst>
          </p:cNvPr>
          <p:cNvSpPr txBox="1"/>
          <p:nvPr/>
        </p:nvSpPr>
        <p:spPr>
          <a:xfrm>
            <a:off x="628853" y="2518739"/>
            <a:ext cx="1128470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Se utilizará una metodología híbrida que combine Scrum para la gestión y desarrollo incremental del software con CRISP-DM para organizar el trabajo asociado a los datos audiovisuales y al modelo de inteligencia artificial.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Durante la Fase 1 (semanas 1 a 4) se consolidarán el problema, el alcance único, los objetivos, las reglas de negocio, las doce historias de usuario V1, los criterios de aceptación, el catálogo inicial de situaciones reglamentarias y el conjunto inicial de momentos de video que se utilizarán para pruebas y entrenamiento.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La Fase 2 se organizará en cinco </a:t>
            </a:r>
            <a:r>
              <a:rPr lang="es-CL" sz="1600" dirty="0" err="1">
                <a:ea typeface="Calibri" panose="020F0502020204030204" pitchFamily="34" charset="0"/>
                <a:cs typeface="Times New Roman" panose="02020603050405020304" pitchFamily="18" charset="0"/>
              </a:rPr>
              <a:t>sprints</a:t>
            </a: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 consecutivos de dos semanas: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1 (semanas 5-6): ingreso de URL, selección del intervalo temporal y validación del video/momento (HU-001 a HU-003).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2 (semanas 7-8): procesamiento del momento seleccionado e identificación de la situación observable (HU-004 y HU-005).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3 (semanas 9-10): recomendación de puntaje, detección de faltas priorizadas y aplicación de su efecto reglamentario (HU-006 a HU-008).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4 (semanas 11-12): niveles de confianza, alternativas evaluadas y justificación de la recomendación (HU-009 y HU-010).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5 (semanas 13-14): almacenamiento, consulta de análisis, generación de reportes PDF/Excel, integración y preparación de la versión entregable (HU-011 y HU-012).</a:t>
            </a:r>
            <a:endParaRPr lang="es-CL" sz="1600" dirty="0"/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o Release Plan para el desarrollo del proyecto</a:t>
            </a:r>
          </a:p>
          <a:p>
            <a:pPr algn="ctr"/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D03776BA-7160-FBAC-947F-85152EB9F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651" y="2048208"/>
            <a:ext cx="9478698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C7B163C2-28F3-8149-8870-4AB22EACE1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7926" y="2078986"/>
            <a:ext cx="7168521" cy="4779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C1F7A04B-A4E0-A1E0-AA47-BDDECD04FF02}"/>
              </a:ext>
            </a:extLst>
          </p:cNvPr>
          <p:cNvSpPr txBox="1"/>
          <p:nvPr/>
        </p:nvSpPr>
        <p:spPr>
          <a:xfrm>
            <a:off x="593715" y="2394488"/>
            <a:ext cx="11004568" cy="3941720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r>
              <a:rPr lang="es-CL" sz="1200" b="1" u="sng" dirty="0"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AWS Amazon</a:t>
            </a:r>
          </a:p>
          <a:p>
            <a:endParaRPr lang="es-CL" sz="1200" dirty="0">
              <a:latin typeface="+mj-lt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Amazon API Gateway: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Servicio utilizado para la exposición y consumo de las </a:t>
            </a:r>
            <a:r>
              <a:rPr lang="es-CL" sz="1200" dirty="0" err="1">
                <a:latin typeface="+mj-lt"/>
                <a:cs typeface="Arial" panose="020B0604020202020204" pitchFamily="34" charset="0"/>
              </a:rPr>
              <a:t>APIs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de la aplicación.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s-CL" sz="1200" dirty="0">
              <a:latin typeface="+mj-lt"/>
              <a:cs typeface="Arial" panose="020B060402020202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AWS </a:t>
            </a:r>
            <a:r>
              <a:rPr lang="es-CL" sz="1200" b="1" dirty="0" err="1">
                <a:latin typeface="+mj-lt"/>
                <a:cs typeface="Arial" panose="020B0604020202020204" pitchFamily="34" charset="0"/>
              </a:rPr>
              <a:t>IoT</a:t>
            </a:r>
            <a:r>
              <a:rPr lang="es-CL" sz="1200" b="1" dirty="0">
                <a:latin typeface="+mj-lt"/>
                <a:cs typeface="Arial" panose="020B0604020202020204" pitchFamily="34" charset="0"/>
              </a:rPr>
              <a:t> Core: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Utilizado para la recepción y procesamiento de datos provenientes de dispositivos </a:t>
            </a:r>
            <a:r>
              <a:rPr lang="es-CL" sz="1200" dirty="0" err="1">
                <a:latin typeface="+mj-lt"/>
                <a:cs typeface="Arial" panose="020B0604020202020204" pitchFamily="34" charset="0"/>
              </a:rPr>
              <a:t>IoT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s-CL" sz="1200" b="1" dirty="0">
              <a:latin typeface="+mj-lt"/>
              <a:cs typeface="Arial" panose="020B060402020202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AWS Lambda: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Funciones </a:t>
            </a:r>
            <a:r>
              <a:rPr lang="es-CL" sz="1200" dirty="0" err="1">
                <a:latin typeface="+mj-lt"/>
                <a:cs typeface="Arial" panose="020B0604020202020204" pitchFamily="34" charset="0"/>
              </a:rPr>
              <a:t>serverless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que ejecutan tareas específicas sin gestionar servidores: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Autenticación: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Encargada de validar tokens y permisos de acceso.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Orquestador: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Gestiona los procesos y las reglas de negocio.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Persistencia: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Guarda y realiza consultas de datos en la base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200" b="1" dirty="0">
              <a:latin typeface="+mj-lt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Amazon SNS (Simple </a:t>
            </a:r>
            <a:r>
              <a:rPr lang="es-CL" sz="1200" b="1" dirty="0" err="1">
                <a:latin typeface="+mj-lt"/>
                <a:cs typeface="Arial" panose="020B0604020202020204" pitchFamily="34" charset="0"/>
              </a:rPr>
              <a:t>Notification</a:t>
            </a:r>
            <a:r>
              <a:rPr lang="es-CL" sz="1200" b="1" dirty="0">
                <a:latin typeface="+mj-lt"/>
                <a:cs typeface="Arial" panose="020B0604020202020204" pitchFamily="34" charset="0"/>
              </a:rPr>
              <a:t> Service):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Servicio encargado de enviar alertas, notificaciones y reportar los resultados del análisis.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200" b="1" dirty="0">
              <a:latin typeface="+mj-lt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  <a:cs typeface="Arial" panose="020B0604020202020204" pitchFamily="34" charset="0"/>
              </a:rPr>
              <a:t>Amazon </a:t>
            </a:r>
            <a:r>
              <a:rPr lang="es-CL" sz="1200" b="1" dirty="0" err="1">
                <a:latin typeface="+mj-lt"/>
                <a:cs typeface="Arial" panose="020B0604020202020204" pitchFamily="34" charset="0"/>
              </a:rPr>
              <a:t>SageMaker</a:t>
            </a:r>
            <a:r>
              <a:rPr lang="es-CL" sz="1200" b="1" dirty="0">
                <a:latin typeface="+mj-lt"/>
                <a:cs typeface="Arial" panose="020B0604020202020204" pitchFamily="34" charset="0"/>
              </a:rPr>
              <a:t> Notebook: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Entorno de desarrollo utilizado en dos etapas fundamentales del flujo:</a:t>
            </a:r>
          </a:p>
          <a:p>
            <a:pPr lvl="1"/>
            <a:r>
              <a:rPr lang="es-CL" sz="1200" b="1" dirty="0">
                <a:latin typeface="+mj-lt"/>
                <a:cs typeface="Arial" panose="020B0604020202020204" pitchFamily="34" charset="0"/>
              </a:rPr>
              <a:t>Normalización: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Procesamiento previo de datos.</a:t>
            </a:r>
          </a:p>
          <a:p>
            <a:pPr lvl="1"/>
            <a:r>
              <a:rPr lang="es-CL" sz="1200" b="1" dirty="0">
                <a:latin typeface="+mj-lt"/>
                <a:cs typeface="Arial" panose="020B0604020202020204" pitchFamily="34" charset="0"/>
              </a:rPr>
              <a:t>Modelo Entrenado:</a:t>
            </a:r>
            <a:r>
              <a:rPr lang="es-CL" sz="1200" dirty="0">
                <a:latin typeface="+mj-lt"/>
                <a:cs typeface="Arial" panose="020B0604020202020204" pitchFamily="34" charset="0"/>
              </a:rPr>
              <a:t> Ejecución y análisis de los modelos de inteligencia artificial.</a:t>
            </a:r>
          </a:p>
          <a:p>
            <a:pPr lvl="1"/>
            <a:r>
              <a:rPr lang="es-CL" sz="1200" b="1" u="sng" dirty="0" err="1">
                <a:latin typeface="+mj-lt"/>
                <a:cs typeface="Arial" panose="020B0604020202020204" pitchFamily="34" charset="0"/>
              </a:rPr>
              <a:t>Alamcenamiento</a:t>
            </a:r>
            <a:endParaRPr lang="es-CL" sz="1200" b="1" u="sng" dirty="0">
              <a:latin typeface="+mj-lt"/>
              <a:cs typeface="Arial" panose="020B0604020202020204" pitchFamily="34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s-CL" sz="1200" b="1" u="sng" dirty="0">
              <a:latin typeface="+mj-lt"/>
              <a:cs typeface="Arial" panose="020B0604020202020204" pitchFamily="34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</a:rPr>
              <a:t>Amazon S3 (Simple Storage Service):</a:t>
            </a:r>
            <a:r>
              <a:rPr lang="es-CL" sz="1200" dirty="0">
                <a:latin typeface="+mj-lt"/>
              </a:rPr>
              <a:t> </a:t>
            </a:r>
            <a:r>
              <a:rPr lang="es-CL" sz="1200" dirty="0" err="1">
                <a:latin typeface="+mj-lt"/>
              </a:rPr>
              <a:t>Bucket</a:t>
            </a:r>
            <a:r>
              <a:rPr lang="es-CL" sz="1200" dirty="0">
                <a:latin typeface="+mj-lt"/>
              </a:rPr>
              <a:t> de almacenamiento en la nube destinado a alojar archivos de video y los modelos de IA.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s-CL" sz="1200" dirty="0">
              <a:latin typeface="+mj-lt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</a:rPr>
              <a:t>PostgreSQL:</a:t>
            </a:r>
            <a:r>
              <a:rPr lang="es-CL" sz="1200" dirty="0">
                <a:latin typeface="+mj-lt"/>
              </a:rPr>
              <a:t> Motor de base de datos relacional (instancia de base de datos) para guardar los datos de la aplicación.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s-CL" sz="1200" dirty="0">
              <a:latin typeface="+mj-lt"/>
            </a:endParaRPr>
          </a:p>
          <a:p>
            <a:pPr lvl="1"/>
            <a:r>
              <a:rPr lang="es-CL" sz="1200" b="1" u="sng" dirty="0">
                <a:latin typeface="+mj-lt"/>
              </a:rPr>
              <a:t>Programación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s-CL" sz="1200" dirty="0">
              <a:latin typeface="+mj-lt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CL" sz="1200" b="1" dirty="0">
                <a:latin typeface="+mj-lt"/>
              </a:rPr>
              <a:t>Python 3:</a:t>
            </a:r>
            <a:r>
              <a:rPr lang="es-CL" sz="1200" dirty="0">
                <a:latin typeface="+mj-lt"/>
              </a:rPr>
              <a:t> Es el </a:t>
            </a:r>
            <a:r>
              <a:rPr lang="es-CL" sz="1200" b="1" dirty="0">
                <a:latin typeface="+mj-lt"/>
              </a:rPr>
              <a:t>lenguaje de programación</a:t>
            </a:r>
            <a:r>
              <a:rPr lang="es-CL" sz="1200" dirty="0">
                <a:latin typeface="+mj-lt"/>
              </a:rPr>
              <a:t> líder en Inteligencia Artificial, aprendizaje automático y visión computacional.</a:t>
            </a:r>
          </a:p>
          <a:p>
            <a:pPr lvl="1"/>
            <a:endParaRPr lang="es-CL" sz="1200" dirty="0">
              <a:latin typeface="+mj-lt"/>
              <a:cs typeface="Arial" panose="020B0604020202020204" pitchFamily="34" charset="0"/>
            </a:endParaRPr>
          </a:p>
          <a:p>
            <a:br>
              <a:rPr lang="es-CL" sz="1600" dirty="0">
                <a:latin typeface="+mj-lt"/>
                <a:cs typeface="Arial" panose="020B0604020202020204" pitchFamily="34" charset="0"/>
              </a:rPr>
            </a:br>
            <a:endParaRPr lang="es-CL" sz="1600" dirty="0">
              <a:latin typeface="+mj-lt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CL" sz="16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79780C-5CD7-951A-D99E-A9A2BF9441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513" y="5411436"/>
            <a:ext cx="1129698" cy="99289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140757B-EA2F-1FE2-E249-F4299AFAF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6750" y="5326700"/>
            <a:ext cx="1549829" cy="116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1163</Words>
  <Application>Microsoft Office PowerPoint</Application>
  <PresentationFormat>Panorámica</PresentationFormat>
  <Paragraphs>83</Paragraphs>
  <Slides>14</Slides>
  <Notes>0</Notes>
  <HiddenSlides>4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Symbol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Vicente Ansaldi</cp:lastModifiedBy>
  <cp:revision>10</cp:revision>
  <dcterms:created xsi:type="dcterms:W3CDTF">2023-10-28T21:12:11Z</dcterms:created>
  <dcterms:modified xsi:type="dcterms:W3CDTF">2026-09-03T23:58:41Z</dcterms:modified>
</cp:coreProperties>
</file>